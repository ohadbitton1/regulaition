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13"/>
  </p:notesMasterIdLst>
  <p:sldIdLst>
    <p:sldId id="256" r:id="rId2"/>
    <p:sldId id="275" r:id="rId3"/>
    <p:sldId id="274" r:id="rId4"/>
    <p:sldId id="268" r:id="rId5"/>
    <p:sldId id="269" r:id="rId6"/>
    <p:sldId id="273" r:id="rId7"/>
    <p:sldId id="271" r:id="rId8"/>
    <p:sldId id="276" r:id="rId9"/>
    <p:sldId id="272" r:id="rId10"/>
    <p:sldId id="277" r:id="rId11"/>
    <p:sldId id="270" r:id="rId12"/>
  </p:sldIdLst>
  <p:sldSz cx="12192000" cy="6858000"/>
  <p:notesSz cx="6858000" cy="9144000"/>
  <p:embeddedFontLst>
    <p:embeddedFont>
      <p:font typeface="Inter" panose="020B0604020202020204" charset="0"/>
      <p:regular r:id="rId14"/>
      <p:bold r:id="rId15"/>
      <p:italic r:id="rId16"/>
      <p:boldItalic r:id="rId17"/>
    </p:embeddedFont>
    <p:embeddedFont>
      <p:font typeface="Inter SemiBold" panose="020B0604020202020204" charset="0"/>
      <p:regular r:id="rId18"/>
      <p:bold r:id="rId19"/>
      <p:italic r:id="rId20"/>
      <p:boldItalic r:id="rId21"/>
    </p:embeddedFont>
    <p:embeddedFont>
      <p:font typeface="Urbanist" panose="020B0604020202020204" charset="0"/>
      <p:regular r:id="rId22"/>
      <p:bold r:id="rId23"/>
      <p:italic r:id="rId24"/>
      <p:boldItalic r:id="rId25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C000"/>
    <a:srgbClr val="F2F2F2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4ED64E65-FE31-4644-8823-DAFD86DB174A}">
  <a:tblStyle styleId="{4ED64E65-FE31-4644-8823-DAFD86DB174A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E8ECF4"/>
          </a:solidFill>
        </a:fill>
      </a:tcStyle>
    </a:wholeTbl>
    <a:band1H>
      <a:tcTxStyle/>
      <a:tcStyle>
        <a:tcBdr/>
        <a:fill>
          <a:solidFill>
            <a:srgbClr val="CFD7E7"/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rgbClr val="CFD7E7"/>
          </a:solidFill>
        </a:fill>
      </a:tcStyle>
    </a:band1V>
    <a:band2V>
      <a:tcTxStyle/>
      <a:tcStyle>
        <a:tcBdr/>
      </a:tcStyle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chemeClr val="accent1"/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accent1"/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2A488322-F2BA-4B5B-9748-0D474271808F}" styleName="Medium Style 3 - Accent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10A1B5D5-9B99-4C35-A422-299274C87663}" styleName="Medium Style 1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6">
              <a:tint val="20000"/>
            </a:schemeClr>
          </a:solidFill>
        </a:fill>
      </a:tcStyle>
    </a:band1H>
    <a:band1V>
      <a:tcStyle>
        <a:tcBdr/>
        <a:fill>
          <a:solidFill>
            <a:schemeClr val="accent6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08FB837D-C827-4EFA-A057-4D05807E0F7C}" styleName="Themed Style 1 - Accent 6">
    <a:tblBg>
      <a:fillRef idx="2">
        <a:schemeClr val="accent6"/>
      </a:fillRef>
      <a:effectRef idx="1">
        <a:schemeClr val="accent6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Ref idx="1">
              <a:schemeClr val="accent6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  <a:fill>
          <a:solidFill>
            <a:schemeClr val="accent6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6"/>
            </a:lnRef>
          </a:left>
          <a:right>
            <a:lnRef idx="2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2">
              <a:schemeClr val="accent6"/>
            </a:lnRef>
          </a:top>
          <a:bottom>
            <a:lnRef idx="2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4" d="100"/>
          <a:sy n="104" d="100"/>
        </p:scale>
        <p:origin x="284" y="80"/>
      </p:cViewPr>
      <p:guideLst>
        <p:guide orient="horz" pos="2160"/>
        <p:guide pos="2880"/>
      </p:guideLst>
    </p:cSldViewPr>
  </p:slideViewPr>
  <p:notesTextViewPr>
    <p:cViewPr>
      <p:scale>
        <a:sx n="3" d="2"/>
        <a:sy n="3" d="2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openxmlformats.org/officeDocument/2006/relationships/font" Target="fonts/font5.fntdata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font" Target="fonts/font8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4.fntdata"/><Relationship Id="rId25" Type="http://schemas.openxmlformats.org/officeDocument/2006/relationships/font" Target="fonts/font12.fntdata"/><Relationship Id="rId2" Type="http://schemas.openxmlformats.org/officeDocument/2006/relationships/slide" Target="slides/slide1.xml"/><Relationship Id="rId16" Type="http://schemas.openxmlformats.org/officeDocument/2006/relationships/font" Target="fonts/font3.fntdata"/><Relationship Id="rId20" Type="http://schemas.openxmlformats.org/officeDocument/2006/relationships/font" Target="fonts/font7.fntdata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11.fntdata"/><Relationship Id="rId5" Type="http://schemas.openxmlformats.org/officeDocument/2006/relationships/slide" Target="slides/slide4.xml"/><Relationship Id="rId15" Type="http://schemas.openxmlformats.org/officeDocument/2006/relationships/font" Target="fonts/font2.fntdata"/><Relationship Id="rId23" Type="http://schemas.openxmlformats.org/officeDocument/2006/relationships/font" Target="fonts/font10.fntdata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font" Target="fonts/font6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1.fntdata"/><Relationship Id="rId22" Type="http://schemas.openxmlformats.org/officeDocument/2006/relationships/font" Target="fonts/font9.fntdata"/><Relationship Id="rId27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LID4096"/>
          </a:p>
        </p:txBody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LID4096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9">
          <a:extLst>
            <a:ext uri="{FF2B5EF4-FFF2-40B4-BE49-F238E27FC236}">
              <a16:creationId xmlns:a16="http://schemas.microsoft.com/office/drawing/2014/main" id="{45F5696A-8E3C-3004-E70A-96B0C130B0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3:notes">
            <a:extLst>
              <a:ext uri="{FF2B5EF4-FFF2-40B4-BE49-F238E27FC236}">
                <a16:creationId xmlns:a16="http://schemas.microsoft.com/office/drawing/2014/main" id="{E3280AFE-13BD-D1F3-9C0B-ADD30C05EC2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1" name="Google Shape;121;p3:notes">
            <a:extLst>
              <a:ext uri="{FF2B5EF4-FFF2-40B4-BE49-F238E27FC236}">
                <a16:creationId xmlns:a16="http://schemas.microsoft.com/office/drawing/2014/main" id="{C1BDC24C-DF0C-6FDD-FC0D-34849E94CA9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377154077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9">
          <a:extLst>
            <a:ext uri="{FF2B5EF4-FFF2-40B4-BE49-F238E27FC236}">
              <a16:creationId xmlns:a16="http://schemas.microsoft.com/office/drawing/2014/main" id="{1B7EFF66-9A3B-BD7E-536D-EEB6B49E9B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3:notes">
            <a:extLst>
              <a:ext uri="{FF2B5EF4-FFF2-40B4-BE49-F238E27FC236}">
                <a16:creationId xmlns:a16="http://schemas.microsoft.com/office/drawing/2014/main" id="{EBEC8FAD-E25B-6FFD-C3F6-2C83AA9D320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1" name="Google Shape;121;p3:notes">
            <a:extLst>
              <a:ext uri="{FF2B5EF4-FFF2-40B4-BE49-F238E27FC236}">
                <a16:creationId xmlns:a16="http://schemas.microsoft.com/office/drawing/2014/main" id="{C3DAD90D-1226-C38D-76DA-7A7DAEB4DF8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188456957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9">
          <a:extLst>
            <a:ext uri="{FF2B5EF4-FFF2-40B4-BE49-F238E27FC236}">
              <a16:creationId xmlns:a16="http://schemas.microsoft.com/office/drawing/2014/main" id="{2E5E52ED-B292-98A3-9EF7-091FF91828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3:notes">
            <a:extLst>
              <a:ext uri="{FF2B5EF4-FFF2-40B4-BE49-F238E27FC236}">
                <a16:creationId xmlns:a16="http://schemas.microsoft.com/office/drawing/2014/main" id="{042BFBBD-7FD2-C1DA-F26A-C284F515A5A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1" name="Google Shape;121;p3:notes">
            <a:extLst>
              <a:ext uri="{FF2B5EF4-FFF2-40B4-BE49-F238E27FC236}">
                <a16:creationId xmlns:a16="http://schemas.microsoft.com/office/drawing/2014/main" id="{FBD53C8A-DA3A-5CBD-EA87-F6A38CE90B9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401212484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9">
          <a:extLst>
            <a:ext uri="{FF2B5EF4-FFF2-40B4-BE49-F238E27FC236}">
              <a16:creationId xmlns:a16="http://schemas.microsoft.com/office/drawing/2014/main" id="{3D3E236F-4684-16ED-2A7C-DB8AC362BE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3:notes">
            <a:extLst>
              <a:ext uri="{FF2B5EF4-FFF2-40B4-BE49-F238E27FC236}">
                <a16:creationId xmlns:a16="http://schemas.microsoft.com/office/drawing/2014/main" id="{8AEBF301-E57D-DBA3-3007-EEECD1612DC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1" name="Google Shape;121;p3:notes">
            <a:extLst>
              <a:ext uri="{FF2B5EF4-FFF2-40B4-BE49-F238E27FC236}">
                <a16:creationId xmlns:a16="http://schemas.microsoft.com/office/drawing/2014/main" id="{9B0A1CD8-A3B2-CB96-5861-782338FF9FB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271452027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9">
          <a:extLst>
            <a:ext uri="{FF2B5EF4-FFF2-40B4-BE49-F238E27FC236}">
              <a16:creationId xmlns:a16="http://schemas.microsoft.com/office/drawing/2014/main" id="{57408F18-ACAC-89BE-B989-FC37B800BC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3:notes">
            <a:extLst>
              <a:ext uri="{FF2B5EF4-FFF2-40B4-BE49-F238E27FC236}">
                <a16:creationId xmlns:a16="http://schemas.microsoft.com/office/drawing/2014/main" id="{E47D3514-A707-F3CB-3F3B-5080FDBA9DB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1" name="Google Shape;121;p3:notes">
            <a:extLst>
              <a:ext uri="{FF2B5EF4-FFF2-40B4-BE49-F238E27FC236}">
                <a16:creationId xmlns:a16="http://schemas.microsoft.com/office/drawing/2014/main" id="{35F989B0-D5B6-DEE7-DF20-35F9A5221BE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88096018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9">
          <a:extLst>
            <a:ext uri="{FF2B5EF4-FFF2-40B4-BE49-F238E27FC236}">
              <a16:creationId xmlns:a16="http://schemas.microsoft.com/office/drawing/2014/main" id="{2E5E52ED-B292-98A3-9EF7-091FF91828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3:notes">
            <a:extLst>
              <a:ext uri="{FF2B5EF4-FFF2-40B4-BE49-F238E27FC236}">
                <a16:creationId xmlns:a16="http://schemas.microsoft.com/office/drawing/2014/main" id="{042BFBBD-7FD2-C1DA-F26A-C284F515A5A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1" name="Google Shape;121;p3:notes">
            <a:extLst>
              <a:ext uri="{FF2B5EF4-FFF2-40B4-BE49-F238E27FC236}">
                <a16:creationId xmlns:a16="http://schemas.microsoft.com/office/drawing/2014/main" id="{FBD53C8A-DA3A-5CBD-EA87-F6A38CE90B9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401212484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9">
          <a:extLst>
            <a:ext uri="{FF2B5EF4-FFF2-40B4-BE49-F238E27FC236}">
              <a16:creationId xmlns:a16="http://schemas.microsoft.com/office/drawing/2014/main" id="{BA42E62A-0527-F6AB-A829-0797F02807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3:notes">
            <a:extLst>
              <a:ext uri="{FF2B5EF4-FFF2-40B4-BE49-F238E27FC236}">
                <a16:creationId xmlns:a16="http://schemas.microsoft.com/office/drawing/2014/main" id="{74B08977-B368-DBD6-4ABB-A9CB5982BC1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1" name="Google Shape;121;p3:notes">
            <a:extLst>
              <a:ext uri="{FF2B5EF4-FFF2-40B4-BE49-F238E27FC236}">
                <a16:creationId xmlns:a16="http://schemas.microsoft.com/office/drawing/2014/main" id="{BCD89377-55AE-D5EE-1D34-3283AC732B7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34689464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9">
          <a:extLst>
            <a:ext uri="{FF2B5EF4-FFF2-40B4-BE49-F238E27FC236}">
              <a16:creationId xmlns:a16="http://schemas.microsoft.com/office/drawing/2014/main" id="{D7718B6B-D2A3-C9BB-BEE6-0877CBA98E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3:notes">
            <a:extLst>
              <a:ext uri="{FF2B5EF4-FFF2-40B4-BE49-F238E27FC236}">
                <a16:creationId xmlns:a16="http://schemas.microsoft.com/office/drawing/2014/main" id="{60BB2E9C-13AC-17C9-A3A7-6C17D0A58F7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1" name="Google Shape;121;p3:notes">
            <a:extLst>
              <a:ext uri="{FF2B5EF4-FFF2-40B4-BE49-F238E27FC236}">
                <a16:creationId xmlns:a16="http://schemas.microsoft.com/office/drawing/2014/main" id="{DCD620B0-45A1-E54A-F259-75C0D8AB4EA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250107533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>
          <a:extLst>
            <a:ext uri="{FF2B5EF4-FFF2-40B4-BE49-F238E27FC236}">
              <a16:creationId xmlns:a16="http://schemas.microsoft.com/office/drawing/2014/main" id="{9084205C-3E22-B54C-96B3-DF28C8D8C4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>
            <a:extLst>
              <a:ext uri="{FF2B5EF4-FFF2-40B4-BE49-F238E27FC236}">
                <a16:creationId xmlns:a16="http://schemas.microsoft.com/office/drawing/2014/main" id="{1050EB1E-2A3B-64B4-591B-EF52066A0B0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:notes">
            <a:extLst>
              <a:ext uri="{FF2B5EF4-FFF2-40B4-BE49-F238E27FC236}">
                <a16:creationId xmlns:a16="http://schemas.microsoft.com/office/drawing/2014/main" id="{61B75D58-FB54-3ECE-8EA5-3F2A10B56C6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427375906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9">
          <a:extLst>
            <a:ext uri="{FF2B5EF4-FFF2-40B4-BE49-F238E27FC236}">
              <a16:creationId xmlns:a16="http://schemas.microsoft.com/office/drawing/2014/main" id="{FAD83F17-DCFD-6745-448E-1259A404C5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3:notes">
            <a:extLst>
              <a:ext uri="{FF2B5EF4-FFF2-40B4-BE49-F238E27FC236}">
                <a16:creationId xmlns:a16="http://schemas.microsoft.com/office/drawing/2014/main" id="{128B49B5-4DC8-B1CD-B002-2E023B1AFF7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1" name="Google Shape;121;p3:notes">
            <a:extLst>
              <a:ext uri="{FF2B5EF4-FFF2-40B4-BE49-F238E27FC236}">
                <a16:creationId xmlns:a16="http://schemas.microsoft.com/office/drawing/2014/main" id="{0C423171-0A09-B9DB-FA4C-BCDFF075D0C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426450404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6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6" name="Google Shape;36;p6"/>
          <p:cNvSpPr txBox="1">
            <a:spLocks noGrp="1"/>
          </p:cNvSpPr>
          <p:nvPr>
            <p:ph type="body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7" name="Google Shape;37;p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7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7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4" name="Google Shape;44;p7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7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6" name="Google Shape;46;p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9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9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58" name="Google Shape;58;p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0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endParaRPr lang="LID4096"/>
          </a:p>
        </p:txBody>
      </p:sp>
      <p:sp>
        <p:nvSpPr>
          <p:cNvPr id="64" name="Google Shape;64;p10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5" name="Google Shape;65;p1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1"/>
          <p:cNvSpPr txBox="1">
            <a:spLocks noGrp="1"/>
          </p:cNvSpPr>
          <p:nvPr>
            <p:ph type="body" idx="1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1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>
            <a:spLocks noGrp="1"/>
          </p:cNvSpPr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2"/>
          <p:cNvSpPr txBox="1">
            <a:spLocks noGrp="1"/>
          </p:cNvSpPr>
          <p:nvPr>
            <p:ph type="body" idx="1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1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52" r:id="rId2"/>
    <p:sldLayoutId id="2147483653" r:id="rId3"/>
    <p:sldLayoutId id="2147483654" r:id="rId4"/>
    <p:sldLayoutId id="2147483655" r:id="rId5"/>
    <p:sldLayoutId id="2147483656" r:id="rId6"/>
    <p:sldLayoutId id="2147483657" r:id="rId7"/>
    <p:sldLayoutId id="2147483658" r:id="rId8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microsoft.com/office/2007/relationships/hdphoto" Target="../media/hdphoto1.wdp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svg"/><Relationship Id="rId3" Type="http://schemas.openxmlformats.org/officeDocument/2006/relationships/image" Target="../media/image2.png"/><Relationship Id="rId7" Type="http://schemas.openxmlformats.org/officeDocument/2006/relationships/image" Target="../media/image9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svg"/><Relationship Id="rId5" Type="http://schemas.openxmlformats.org/officeDocument/2006/relationships/image" Target="../media/image7.png"/><Relationship Id="rId4" Type="http://schemas.openxmlformats.org/officeDocument/2006/relationships/image" Target="../media/image6.jp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14.sv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3.png"/><Relationship Id="rId5" Type="http://schemas.openxmlformats.org/officeDocument/2006/relationships/image" Target="../media/image12.svg"/><Relationship Id="rId4" Type="http://schemas.openxmlformats.org/officeDocument/2006/relationships/image" Target="../media/image11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5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6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9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2.png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30712"/>
        </a:solidFill>
        <a:effectLst/>
      </p:bgPr>
    </p:bg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3"/>
          <p:cNvSpPr txBox="1"/>
          <p:nvPr/>
        </p:nvSpPr>
        <p:spPr>
          <a:xfrm>
            <a:off x="485055" y="247959"/>
            <a:ext cx="4093082" cy="5078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b="1" i="0" u="none" strike="noStrike" cap="none" dirty="0">
                <a:solidFill>
                  <a:srgbClr val="F9FAFB"/>
                </a:solidFill>
                <a:latin typeface="Urbanist"/>
                <a:ea typeface="Urbanist"/>
                <a:cs typeface="Urbanist"/>
                <a:sym typeface="Urbanist"/>
              </a:rPr>
              <a:t>REGUL</a:t>
            </a:r>
            <a:r>
              <a:rPr lang="en-US" sz="3300" b="1" i="0" u="none" strike="noStrike" cap="none" dirty="0">
                <a:solidFill>
                  <a:srgbClr val="FFC000"/>
                </a:solidFill>
                <a:latin typeface="Urbanist"/>
                <a:ea typeface="Urbanist"/>
                <a:cs typeface="Urbanist"/>
                <a:sym typeface="Urbanist"/>
              </a:rPr>
              <a:t>AI</a:t>
            </a:r>
            <a:r>
              <a:rPr lang="en-US" sz="3300" b="1" i="0" u="none" strike="noStrike" cap="none" dirty="0">
                <a:solidFill>
                  <a:srgbClr val="F9FAFB"/>
                </a:solidFill>
                <a:latin typeface="Urbanist"/>
                <a:ea typeface="Urbanist"/>
                <a:cs typeface="Urbanist"/>
                <a:sym typeface="Urbanist"/>
              </a:rPr>
              <a:t>LTION </a:t>
            </a:r>
          </a:p>
        </p:txBody>
      </p:sp>
      <p:sp>
        <p:nvSpPr>
          <p:cNvPr id="2" name="Google Shape;127;p15">
            <a:extLst>
              <a:ext uri="{FF2B5EF4-FFF2-40B4-BE49-F238E27FC236}">
                <a16:creationId xmlns:a16="http://schemas.microsoft.com/office/drawing/2014/main" id="{4536C468-5595-7F0C-4820-E3E19813D8EE}"/>
              </a:ext>
            </a:extLst>
          </p:cNvPr>
          <p:cNvSpPr/>
          <p:nvPr/>
        </p:nvSpPr>
        <p:spPr>
          <a:xfrm>
            <a:off x="378810" y="247959"/>
            <a:ext cx="57150" cy="504825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" name="Google Shape;88;p13">
            <a:extLst>
              <a:ext uri="{FF2B5EF4-FFF2-40B4-BE49-F238E27FC236}">
                <a16:creationId xmlns:a16="http://schemas.microsoft.com/office/drawing/2014/main" id="{56F59E24-476E-7785-2CA4-E4EC7A3775F7}"/>
              </a:ext>
            </a:extLst>
          </p:cNvPr>
          <p:cNvSpPr txBox="1"/>
          <p:nvPr/>
        </p:nvSpPr>
        <p:spPr>
          <a:xfrm>
            <a:off x="533128" y="4225021"/>
            <a:ext cx="3037005" cy="4308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r>
              <a:rPr lang="en-US" sz="2800" b="1" dirty="0">
                <a:solidFill>
                  <a:srgbClr val="FFC000"/>
                </a:solidFill>
                <a:latin typeface="Urbanist"/>
                <a:ea typeface="Urbanist"/>
                <a:cs typeface="Urbanist"/>
                <a:sym typeface="Urbanist"/>
              </a:rPr>
              <a:t>The Data:</a:t>
            </a:r>
          </a:p>
        </p:txBody>
      </p:sp>
      <p:sp>
        <p:nvSpPr>
          <p:cNvPr id="5" name="Google Shape;88;p13">
            <a:extLst>
              <a:ext uri="{FF2B5EF4-FFF2-40B4-BE49-F238E27FC236}">
                <a16:creationId xmlns:a16="http://schemas.microsoft.com/office/drawing/2014/main" id="{79432676-2805-7CDF-1089-C447F2B5AD14}"/>
              </a:ext>
            </a:extLst>
          </p:cNvPr>
          <p:cNvSpPr txBox="1"/>
          <p:nvPr/>
        </p:nvSpPr>
        <p:spPr>
          <a:xfrm>
            <a:off x="533128" y="4710514"/>
            <a:ext cx="6923221" cy="166199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285750" indent="-285750">
              <a:lnSpc>
                <a:spcPct val="150000"/>
              </a:lnSpc>
              <a:buClr>
                <a:srgbClr val="FFC000"/>
              </a:buClr>
              <a:buFont typeface="Wingdings" panose="05000000000000000000" pitchFamily="2" charset="2"/>
              <a:buChar char="Ø"/>
            </a:pPr>
            <a:r>
              <a:rPr lang="en-US" sz="1800" dirty="0">
                <a:solidFill>
                  <a:schemeClr val="bg1">
                    <a:lumMod val="95000"/>
                  </a:schemeClr>
                </a:solidFill>
              </a:rPr>
              <a:t>Official Bank of Israel banking &amp; financial regulations.</a:t>
            </a:r>
            <a:endParaRPr lang="nn-NO" sz="1800" dirty="0">
              <a:solidFill>
                <a:schemeClr val="bg1">
                  <a:lumMod val="95000"/>
                </a:schemeClr>
              </a:solidFill>
            </a:endParaRPr>
          </a:p>
          <a:p>
            <a:pPr marL="285750" indent="-285750">
              <a:lnSpc>
                <a:spcPct val="150000"/>
              </a:lnSpc>
              <a:buClr>
                <a:srgbClr val="FFC000"/>
              </a:buClr>
              <a:buFont typeface="Wingdings" panose="05000000000000000000" pitchFamily="2" charset="2"/>
              <a:buChar char="Ø"/>
            </a:pPr>
            <a:r>
              <a:rPr lang="en-US" sz="1800" dirty="0">
                <a:solidFill>
                  <a:schemeClr val="bg1">
                    <a:lumMod val="95000"/>
                  </a:schemeClr>
                </a:solidFill>
              </a:rPr>
              <a:t>Synthetic Q&amp;A generation to ensure coverage and consistency.</a:t>
            </a:r>
          </a:p>
          <a:p>
            <a:pPr marL="285750" indent="-285750">
              <a:lnSpc>
                <a:spcPct val="150000"/>
              </a:lnSpc>
              <a:buClr>
                <a:srgbClr val="FFC000"/>
              </a:buClr>
              <a:buFont typeface="Wingdings" panose="05000000000000000000" pitchFamily="2" charset="2"/>
              <a:buChar char="Ø"/>
            </a:pPr>
            <a:r>
              <a:rPr lang="en-US" sz="1800" dirty="0">
                <a:solidFill>
                  <a:schemeClr val="bg1">
                    <a:lumMod val="95000"/>
                  </a:schemeClr>
                </a:solidFill>
              </a:rPr>
              <a:t>Questions designed to test precision, grounding, and edge</a:t>
            </a:r>
            <a:r>
              <a:rPr lang="en-US" sz="1800" dirty="0">
                <a:solidFill>
                  <a:srgbClr val="FFC000"/>
                </a:solidFill>
              </a:rPr>
              <a:t> </a:t>
            </a:r>
            <a:r>
              <a:rPr lang="en-US" sz="1800" dirty="0">
                <a:solidFill>
                  <a:schemeClr val="bg1">
                    <a:lumMod val="95000"/>
                  </a:schemeClr>
                </a:solidFill>
              </a:rPr>
              <a:t>cases.</a:t>
            </a:r>
          </a:p>
          <a:p>
            <a:pPr lvl="0">
              <a:lnSpc>
                <a:spcPct val="150000"/>
              </a:lnSpc>
            </a:pPr>
            <a:endParaRPr lang="en-US" sz="1800" b="1" dirty="0">
              <a:solidFill>
                <a:srgbClr val="FFC000"/>
              </a:solidFill>
              <a:latin typeface="Inter SemiBold"/>
              <a:ea typeface="Inter SemiBold"/>
              <a:cs typeface="Inter SemiBold"/>
              <a:sym typeface="Inter SemiBold"/>
            </a:endParaRPr>
          </a:p>
        </p:txBody>
      </p:sp>
      <p:sp>
        <p:nvSpPr>
          <p:cNvPr id="6" name="Google Shape;88;p13">
            <a:extLst>
              <a:ext uri="{FF2B5EF4-FFF2-40B4-BE49-F238E27FC236}">
                <a16:creationId xmlns:a16="http://schemas.microsoft.com/office/drawing/2014/main" id="{786C2DD1-53B4-41AD-E94E-933E921FE532}"/>
              </a:ext>
            </a:extLst>
          </p:cNvPr>
          <p:cNvSpPr txBox="1"/>
          <p:nvPr/>
        </p:nvSpPr>
        <p:spPr>
          <a:xfrm>
            <a:off x="533128" y="923308"/>
            <a:ext cx="3037005" cy="4308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r>
              <a:rPr lang="en-US" sz="2800" b="1" dirty="0">
                <a:solidFill>
                  <a:srgbClr val="FFC000"/>
                </a:solidFill>
                <a:latin typeface="Urbanist"/>
                <a:ea typeface="Urbanist"/>
                <a:cs typeface="Urbanist"/>
                <a:sym typeface="Urbanist"/>
              </a:rPr>
              <a:t>PROJECT:</a:t>
            </a:r>
            <a:endParaRPr lang="en-US" sz="2800" dirty="0">
              <a:solidFill>
                <a:srgbClr val="FFC000"/>
              </a:solidFill>
            </a:endParaRPr>
          </a:p>
        </p:txBody>
      </p:sp>
      <p:sp>
        <p:nvSpPr>
          <p:cNvPr id="88" name="Google Shape;88;p13"/>
          <p:cNvSpPr txBox="1"/>
          <p:nvPr/>
        </p:nvSpPr>
        <p:spPr>
          <a:xfrm>
            <a:off x="533128" y="1524719"/>
            <a:ext cx="6716336" cy="24929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r>
              <a:rPr lang="en-US" sz="1800" dirty="0">
                <a:solidFill>
                  <a:schemeClr val="bg1">
                    <a:lumMod val="95000"/>
                  </a:schemeClr>
                </a:solidFill>
              </a:rPr>
              <a:t>Regulatory texts are lengthy, highly technical, and require </a:t>
            </a:r>
            <a:r>
              <a:rPr lang="en-US" sz="1800" dirty="0">
                <a:solidFill>
                  <a:srgbClr val="FFC000"/>
                </a:solidFill>
              </a:rPr>
              <a:t>strict factual accuracy</a:t>
            </a:r>
            <a:r>
              <a:rPr lang="en-US" sz="1800" dirty="0">
                <a:solidFill>
                  <a:schemeClr val="bg1">
                    <a:lumMod val="95000"/>
                  </a:schemeClr>
                </a:solidFill>
              </a:rPr>
              <a:t>. General-purpose LLMs often </a:t>
            </a:r>
            <a:r>
              <a:rPr lang="en-US" sz="1800" dirty="0">
                <a:solidFill>
                  <a:srgbClr val="FFC000"/>
                </a:solidFill>
              </a:rPr>
              <a:t>hallucinate</a:t>
            </a:r>
            <a:r>
              <a:rPr lang="en-US" sz="1800" dirty="0">
                <a:solidFill>
                  <a:schemeClr val="bg1">
                    <a:lumMod val="95000"/>
                  </a:schemeClr>
                </a:solidFill>
              </a:rPr>
              <a:t> and fail to capture legal nuance, making them unreliable for regulatory reasoning.</a:t>
            </a:r>
          </a:p>
          <a:p>
            <a:pPr>
              <a:buClr>
                <a:srgbClr val="FFC000"/>
              </a:buClr>
            </a:pPr>
            <a:endParaRPr lang="en-US" sz="1800" b="1" dirty="0">
              <a:solidFill>
                <a:schemeClr val="bg1">
                  <a:lumMod val="95000"/>
                </a:schemeClr>
              </a:solidFill>
              <a:latin typeface="Inter SemiBold"/>
              <a:ea typeface="Inter SemiBold"/>
              <a:cs typeface="Inter SemiBold"/>
              <a:sym typeface="Inter SemiBold"/>
            </a:endParaRPr>
          </a:p>
          <a:p>
            <a:pPr>
              <a:buClr>
                <a:srgbClr val="FFC000"/>
              </a:buClr>
            </a:pPr>
            <a:r>
              <a:rPr lang="en-US" sz="1800" b="1" dirty="0">
                <a:solidFill>
                  <a:srgbClr val="FFC000"/>
                </a:solidFill>
              </a:rPr>
              <a:t>Goal: </a:t>
            </a:r>
            <a:r>
              <a:rPr lang="en-US" sz="1800" dirty="0">
                <a:solidFill>
                  <a:schemeClr val="bg1">
                    <a:lumMod val="95000"/>
                  </a:schemeClr>
                </a:solidFill>
              </a:rPr>
              <a:t>accurate, grounded Q&amp;A over banking regulations.</a:t>
            </a:r>
          </a:p>
          <a:p>
            <a:pPr marL="342900" indent="-342900">
              <a:buClr>
                <a:srgbClr val="FFC000"/>
              </a:buClr>
              <a:buFont typeface="Wingdings" panose="05000000000000000000" pitchFamily="2" charset="2"/>
              <a:buChar char="Ø"/>
            </a:pPr>
            <a:endParaRPr lang="en-US" sz="1800" b="1" dirty="0">
              <a:solidFill>
                <a:schemeClr val="bg1">
                  <a:lumMod val="95000"/>
                </a:schemeClr>
              </a:solidFill>
              <a:latin typeface="Inter SemiBold"/>
              <a:ea typeface="Inter SemiBold"/>
              <a:cs typeface="Inter SemiBold"/>
              <a:sym typeface="Inter SemiBold"/>
            </a:endParaRPr>
          </a:p>
          <a:p>
            <a:pPr>
              <a:buClr>
                <a:srgbClr val="FFC000"/>
              </a:buClr>
            </a:pPr>
            <a:r>
              <a:rPr lang="en-US" sz="1800" b="1" dirty="0">
                <a:solidFill>
                  <a:srgbClr val="FFC000"/>
                </a:solidFill>
              </a:rPr>
              <a:t>Solution: </a:t>
            </a:r>
            <a:r>
              <a:rPr lang="en-US" sz="1800" dirty="0">
                <a:solidFill>
                  <a:schemeClr val="bg1">
                    <a:lumMod val="95000"/>
                  </a:schemeClr>
                </a:solidFill>
              </a:rPr>
              <a:t>Domain-aware RAG + FT models.</a:t>
            </a:r>
            <a:endParaRPr lang="en-US" sz="1800" dirty="0">
              <a:solidFill>
                <a:schemeClr val="bg1">
                  <a:lumMod val="95000"/>
                </a:schemeClr>
              </a:solidFill>
              <a:latin typeface="Inter SemiBold"/>
              <a:ea typeface="Inter SemiBold"/>
              <a:cs typeface="Inter SemiBold"/>
              <a:sym typeface="Inter SemiBold"/>
            </a:endParaRPr>
          </a:p>
          <a:p>
            <a:pPr lvl="0"/>
            <a:endParaRPr lang="en-US" sz="1800" b="1" dirty="0">
              <a:solidFill>
                <a:srgbClr val="FFC000"/>
              </a:solidFill>
              <a:latin typeface="Inter SemiBold"/>
              <a:ea typeface="Inter SemiBold"/>
              <a:cs typeface="Inter SemiBold"/>
              <a:sym typeface="Inter SemiBold"/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FCE157F3-E577-BA35-C424-D6DDAA01BCBC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85000"/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bright="-40000" contrast="20000"/>
                    </a14:imgEffect>
                  </a14:imgLayer>
                </a14:imgProps>
              </a:ext>
            </a:extLst>
          </a:blip>
          <a:srcRect l="54628" r="1750"/>
          <a:stretch>
            <a:fillRect/>
          </a:stretch>
        </p:blipFill>
        <p:spPr>
          <a:xfrm>
            <a:off x="7456348" y="-5210"/>
            <a:ext cx="4735652" cy="6863210"/>
          </a:xfrm>
          <a:prstGeom prst="rect">
            <a:avLst/>
          </a:prstGeom>
          <a:effectLst>
            <a:softEdge rad="254000"/>
          </a:effectLst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2">
          <a:extLst>
            <a:ext uri="{FF2B5EF4-FFF2-40B4-BE49-F238E27FC236}">
              <a16:creationId xmlns:a16="http://schemas.microsoft.com/office/drawing/2014/main" id="{DA692B55-BDA9-8245-F423-219541F95B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3" name="Google Shape;123;p15" descr="image.png">
            <a:extLst>
              <a:ext uri="{FF2B5EF4-FFF2-40B4-BE49-F238E27FC236}">
                <a16:creationId xmlns:a16="http://schemas.microsoft.com/office/drawing/2014/main" id="{1E383F0D-BCE5-E80F-12FC-719A86FBD391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7" name="Google Shape;86;p13">
            <a:extLst>
              <a:ext uri="{FF2B5EF4-FFF2-40B4-BE49-F238E27FC236}">
                <a16:creationId xmlns:a16="http://schemas.microsoft.com/office/drawing/2014/main" id="{37C60CE0-6A6B-821B-01BE-EA0EB08ABFD0}"/>
              </a:ext>
            </a:extLst>
          </p:cNvPr>
          <p:cNvSpPr txBox="1"/>
          <p:nvPr/>
        </p:nvSpPr>
        <p:spPr>
          <a:xfrm>
            <a:off x="492822" y="270246"/>
            <a:ext cx="6560627" cy="5078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/>
            <a:r>
              <a:rPr lang="en-US" sz="3300" b="1" i="0" u="none" strike="noStrike" cap="none" dirty="0">
                <a:solidFill>
                  <a:schemeClr val="bg1"/>
                </a:solidFill>
                <a:latin typeface="Urbanist"/>
                <a:ea typeface="Urbanist"/>
                <a:cs typeface="Urbanist"/>
                <a:sym typeface="Urbanist"/>
              </a:rPr>
              <a:t>SYNTHETIC </a:t>
            </a:r>
            <a:r>
              <a:rPr lang="en-US" sz="3300" b="1" i="0" u="none" strike="noStrike" cap="none" dirty="0">
                <a:solidFill>
                  <a:srgbClr val="FFC000"/>
                </a:solidFill>
                <a:latin typeface="Urbanist"/>
                <a:ea typeface="Urbanist"/>
                <a:cs typeface="Urbanist"/>
                <a:sym typeface="Urbanist"/>
              </a:rPr>
              <a:t>DATA</a:t>
            </a:r>
            <a:r>
              <a:rPr lang="en-US" sz="3300" b="1" i="0" u="none" strike="noStrike" cap="none" dirty="0">
                <a:solidFill>
                  <a:schemeClr val="bg1"/>
                </a:solidFill>
                <a:latin typeface="Urbanist"/>
                <a:ea typeface="Urbanist"/>
                <a:cs typeface="Urbanist"/>
                <a:sym typeface="Urbanist"/>
              </a:rPr>
              <a:t> GENERATION</a:t>
            </a:r>
          </a:p>
        </p:txBody>
      </p:sp>
      <p:sp>
        <p:nvSpPr>
          <p:cNvPr id="9" name="Google Shape;127;p15">
            <a:extLst>
              <a:ext uri="{FF2B5EF4-FFF2-40B4-BE49-F238E27FC236}">
                <a16:creationId xmlns:a16="http://schemas.microsoft.com/office/drawing/2014/main" id="{CC6D742D-5CBE-932F-1003-672B5AE0F53B}"/>
              </a:ext>
            </a:extLst>
          </p:cNvPr>
          <p:cNvSpPr/>
          <p:nvPr/>
        </p:nvSpPr>
        <p:spPr>
          <a:xfrm>
            <a:off x="362845" y="238941"/>
            <a:ext cx="57150" cy="504825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4" name="תמונה 3" descr="תמונה שמכילה טקסט, צילום מסך, גופן, תפריט&#10;&#10;תוכן בינה מלאכותית גנרטיבית עשוי להיות שגוי.">
            <a:extLst>
              <a:ext uri="{FF2B5EF4-FFF2-40B4-BE49-F238E27FC236}">
                <a16:creationId xmlns:a16="http://schemas.microsoft.com/office/drawing/2014/main" id="{3D9614C0-9EFA-8920-C82C-FCA2E1B87FF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02021" y="919114"/>
            <a:ext cx="7597157" cy="4025359"/>
          </a:xfrm>
          <a:prstGeom prst="rect">
            <a:avLst/>
          </a:prstGeom>
        </p:spPr>
      </p:pic>
      <p:sp>
        <p:nvSpPr>
          <p:cNvPr id="5" name="תיבת טקסט 4">
            <a:extLst>
              <a:ext uri="{FF2B5EF4-FFF2-40B4-BE49-F238E27FC236}">
                <a16:creationId xmlns:a16="http://schemas.microsoft.com/office/drawing/2014/main" id="{189EFFD1-CA4B-DA34-2B42-0DC8F420D33A}"/>
              </a:ext>
            </a:extLst>
          </p:cNvPr>
          <p:cNvSpPr txBox="1"/>
          <p:nvPr/>
        </p:nvSpPr>
        <p:spPr>
          <a:xfrm>
            <a:off x="8609758" y="589877"/>
            <a:ext cx="3001617" cy="307777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en-US" b="1" dirty="0">
                <a:solidFill>
                  <a:srgbClr val="FFFFFF"/>
                </a:solidFill>
              </a:rPr>
              <a:t>THE PROMPT</a:t>
            </a:r>
            <a:endParaRPr lang="he-IL" b="1" dirty="0">
              <a:solidFill>
                <a:srgbClr val="FFFFFF"/>
              </a:solidFill>
            </a:endParaRPr>
          </a:p>
        </p:txBody>
      </p:sp>
      <p:sp>
        <p:nvSpPr>
          <p:cNvPr id="8" name="תיבת טקסט 7">
            <a:extLst>
              <a:ext uri="{FF2B5EF4-FFF2-40B4-BE49-F238E27FC236}">
                <a16:creationId xmlns:a16="http://schemas.microsoft.com/office/drawing/2014/main" id="{BACA53EA-2DFE-826F-3433-2B3802DA1DB9}"/>
              </a:ext>
            </a:extLst>
          </p:cNvPr>
          <p:cNvSpPr txBox="1"/>
          <p:nvPr/>
        </p:nvSpPr>
        <p:spPr>
          <a:xfrm>
            <a:off x="665921" y="4944473"/>
            <a:ext cx="2365514" cy="307777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en-US" b="1" dirty="0">
                <a:solidFill>
                  <a:srgbClr val="FFFFFF"/>
                </a:solidFill>
              </a:rPr>
              <a:t>SAMPLE EXAMPLE</a:t>
            </a:r>
            <a:endParaRPr lang="he-IL" b="1" dirty="0">
              <a:solidFill>
                <a:srgbClr val="FFFFFF"/>
              </a:solidFill>
            </a:endParaRPr>
          </a:p>
        </p:txBody>
      </p:sp>
      <p:pic>
        <p:nvPicPr>
          <p:cNvPr id="10" name="תמונה 9">
            <a:extLst>
              <a:ext uri="{FF2B5EF4-FFF2-40B4-BE49-F238E27FC236}">
                <a16:creationId xmlns:a16="http://schemas.microsoft.com/office/drawing/2014/main" id="{1ECCA144-FA96-5E7D-6D5B-EFE9243F53E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5921" y="5262122"/>
            <a:ext cx="10129630" cy="13535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1852786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2">
          <a:extLst>
            <a:ext uri="{FF2B5EF4-FFF2-40B4-BE49-F238E27FC236}">
              <a16:creationId xmlns:a16="http://schemas.microsoft.com/office/drawing/2014/main" id="{5D22EA4D-ED81-0E69-84AD-C2067A74DC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3" name="Google Shape;123;p15" descr="image.png">
            <a:extLst>
              <a:ext uri="{FF2B5EF4-FFF2-40B4-BE49-F238E27FC236}">
                <a16:creationId xmlns:a16="http://schemas.microsoft.com/office/drawing/2014/main" id="{F1844D87-E68D-547A-9874-17BB4086E21B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7" name="Google Shape;86;p13">
            <a:extLst>
              <a:ext uri="{FF2B5EF4-FFF2-40B4-BE49-F238E27FC236}">
                <a16:creationId xmlns:a16="http://schemas.microsoft.com/office/drawing/2014/main" id="{4648F711-7823-D3B6-3CBD-6C37B3DB5262}"/>
              </a:ext>
            </a:extLst>
          </p:cNvPr>
          <p:cNvSpPr txBox="1"/>
          <p:nvPr/>
        </p:nvSpPr>
        <p:spPr>
          <a:xfrm>
            <a:off x="492822" y="270246"/>
            <a:ext cx="5902159" cy="5078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/>
            <a:r>
              <a:rPr lang="en-US" sz="3300" b="1" dirty="0">
                <a:solidFill>
                  <a:schemeClr val="bg1"/>
                </a:solidFill>
              </a:rPr>
              <a:t>INTER</a:t>
            </a:r>
            <a:r>
              <a:rPr lang="en-US" sz="3300" b="1" dirty="0">
                <a:solidFill>
                  <a:srgbClr val="FFC000"/>
                </a:solidFill>
              </a:rPr>
              <a:t>ACTIVE</a:t>
            </a:r>
            <a:r>
              <a:rPr lang="en-US" sz="3300" b="1" dirty="0">
                <a:solidFill>
                  <a:schemeClr val="bg1"/>
                </a:solidFill>
              </a:rPr>
              <a:t> INTERFACE</a:t>
            </a:r>
            <a:endParaRPr lang="en-US" sz="3300" b="1" i="0" u="none" strike="noStrike" cap="none" dirty="0">
              <a:solidFill>
                <a:schemeClr val="bg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9" name="Google Shape;127;p15">
            <a:extLst>
              <a:ext uri="{FF2B5EF4-FFF2-40B4-BE49-F238E27FC236}">
                <a16:creationId xmlns:a16="http://schemas.microsoft.com/office/drawing/2014/main" id="{BC99C2AC-37EE-007F-CFFE-FF02ED76E2BF}"/>
              </a:ext>
            </a:extLst>
          </p:cNvPr>
          <p:cNvSpPr/>
          <p:nvPr/>
        </p:nvSpPr>
        <p:spPr>
          <a:xfrm>
            <a:off x="362845" y="238941"/>
            <a:ext cx="57150" cy="504825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5" name="תמונה 4" descr="תמונה שמכילה טקסט, צילום מסך, מסמך, גופן&#10;&#10;תוכן בינה מלאכותית גנרטיבית עשוי להיות שגוי.">
            <a:extLst>
              <a:ext uri="{FF2B5EF4-FFF2-40B4-BE49-F238E27FC236}">
                <a16:creationId xmlns:a16="http://schemas.microsoft.com/office/drawing/2014/main" id="{E16F0125-CCAC-6C9E-D41C-8433A6F004E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6456" y="1444567"/>
            <a:ext cx="11579087" cy="39688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381328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2">
          <a:extLst>
            <a:ext uri="{FF2B5EF4-FFF2-40B4-BE49-F238E27FC236}">
              <a16:creationId xmlns:a16="http://schemas.microsoft.com/office/drawing/2014/main" id="{D0A7CC1C-86D4-C571-70FC-ECE64402EE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3" name="Google Shape;123;p15" descr="image.png">
            <a:extLst>
              <a:ext uri="{FF2B5EF4-FFF2-40B4-BE49-F238E27FC236}">
                <a16:creationId xmlns:a16="http://schemas.microsoft.com/office/drawing/2014/main" id="{80333E22-D108-DA02-6229-75A082A79E55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7" name="Google Shape;86;p13">
            <a:extLst>
              <a:ext uri="{FF2B5EF4-FFF2-40B4-BE49-F238E27FC236}">
                <a16:creationId xmlns:a16="http://schemas.microsoft.com/office/drawing/2014/main" id="{6985ACC8-CA36-4C65-BFC8-104AA7A4FA09}"/>
              </a:ext>
            </a:extLst>
          </p:cNvPr>
          <p:cNvSpPr txBox="1"/>
          <p:nvPr/>
        </p:nvSpPr>
        <p:spPr>
          <a:xfrm>
            <a:off x="459840" y="265124"/>
            <a:ext cx="4104105" cy="5078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b="1" i="0" u="none" strike="noStrike" cap="none" dirty="0">
                <a:solidFill>
                  <a:srgbClr val="F9FAFB"/>
                </a:solidFill>
                <a:latin typeface="Urbanist"/>
                <a:ea typeface="Urbanist"/>
                <a:cs typeface="Urbanist"/>
                <a:sym typeface="Urbanist"/>
              </a:rPr>
              <a:t>MODELS </a:t>
            </a:r>
            <a:r>
              <a:rPr lang="en-US" sz="3300" b="1" i="0" u="none" strike="noStrike" cap="none" dirty="0">
                <a:solidFill>
                  <a:srgbClr val="FFC000"/>
                </a:solidFill>
                <a:latin typeface="Urbanist"/>
                <a:ea typeface="Urbanist"/>
                <a:cs typeface="Urbanist"/>
                <a:sym typeface="Urbanist"/>
              </a:rPr>
              <a:t>&amp;</a:t>
            </a:r>
            <a:r>
              <a:rPr lang="en-US" sz="3300" b="1" i="0" u="none" strike="noStrike" cap="none" dirty="0">
                <a:solidFill>
                  <a:srgbClr val="F9FAFB"/>
                </a:solidFill>
                <a:latin typeface="Urbanist"/>
                <a:ea typeface="Urbanist"/>
                <a:cs typeface="Urbanist"/>
                <a:sym typeface="Urbanist"/>
              </a:rPr>
              <a:t> METRICS</a:t>
            </a:r>
          </a:p>
        </p:txBody>
      </p:sp>
      <p:sp>
        <p:nvSpPr>
          <p:cNvPr id="8" name="Google Shape;88;p13">
            <a:extLst>
              <a:ext uri="{FF2B5EF4-FFF2-40B4-BE49-F238E27FC236}">
                <a16:creationId xmlns:a16="http://schemas.microsoft.com/office/drawing/2014/main" id="{58467C1D-E2DA-4082-8BBA-6B8FDA36AC41}"/>
              </a:ext>
            </a:extLst>
          </p:cNvPr>
          <p:cNvSpPr txBox="1"/>
          <p:nvPr/>
        </p:nvSpPr>
        <p:spPr>
          <a:xfrm>
            <a:off x="1065476" y="1232165"/>
            <a:ext cx="3037005" cy="4308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r>
              <a:rPr lang="en-US" sz="2800" b="1" dirty="0">
                <a:solidFill>
                  <a:srgbClr val="FFC000"/>
                </a:solidFill>
                <a:latin typeface="Urbanist"/>
                <a:ea typeface="Urbanist"/>
                <a:cs typeface="Urbanist"/>
                <a:sym typeface="Urbanist"/>
              </a:rPr>
              <a:t>Models Evaluated:</a:t>
            </a:r>
          </a:p>
        </p:txBody>
      </p:sp>
      <p:sp>
        <p:nvSpPr>
          <p:cNvPr id="9" name="Google Shape;127;p15">
            <a:extLst>
              <a:ext uri="{FF2B5EF4-FFF2-40B4-BE49-F238E27FC236}">
                <a16:creationId xmlns:a16="http://schemas.microsoft.com/office/drawing/2014/main" id="{A281F43E-3EB0-604B-3A70-1D2F97D27837}"/>
              </a:ext>
            </a:extLst>
          </p:cNvPr>
          <p:cNvSpPr/>
          <p:nvPr/>
        </p:nvSpPr>
        <p:spPr>
          <a:xfrm>
            <a:off x="362845" y="238941"/>
            <a:ext cx="57150" cy="504825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" name="Google Shape;88;p13">
            <a:extLst>
              <a:ext uri="{FF2B5EF4-FFF2-40B4-BE49-F238E27FC236}">
                <a16:creationId xmlns:a16="http://schemas.microsoft.com/office/drawing/2014/main" id="{F5C197BB-24F6-1834-66BC-DF3077F15B3E}"/>
              </a:ext>
            </a:extLst>
          </p:cNvPr>
          <p:cNvSpPr txBox="1"/>
          <p:nvPr/>
        </p:nvSpPr>
        <p:spPr>
          <a:xfrm>
            <a:off x="362845" y="1663051"/>
            <a:ext cx="5622755" cy="24929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endParaRPr lang="en-US" sz="1800" dirty="0">
              <a:solidFill>
                <a:schemeClr val="bg1">
                  <a:lumMod val="95000"/>
                </a:schemeClr>
              </a:solidFill>
            </a:endParaRPr>
          </a:p>
          <a:p>
            <a:pPr marL="285750" indent="-285750">
              <a:buClr>
                <a:srgbClr val="FFC000"/>
              </a:buClr>
              <a:buFont typeface="Wingdings" panose="05000000000000000000" pitchFamily="2" charset="2"/>
              <a:buChar char="Ø"/>
            </a:pPr>
            <a:r>
              <a:rPr lang="nn-NO" sz="1800" b="1" dirty="0">
                <a:solidFill>
                  <a:schemeClr val="bg1">
                    <a:lumMod val="95000"/>
                  </a:schemeClr>
                </a:solidFill>
              </a:rPr>
              <a:t>Llama + MiniLM</a:t>
            </a:r>
            <a:r>
              <a:rPr lang="nn-NO" sz="1800" dirty="0">
                <a:solidFill>
                  <a:schemeClr val="bg1">
                    <a:lumMod val="95000"/>
                  </a:schemeClr>
                </a:solidFill>
              </a:rPr>
              <a:t> – strong general baseline.</a:t>
            </a:r>
          </a:p>
          <a:p>
            <a:pPr>
              <a:buClr>
                <a:srgbClr val="FFC000"/>
              </a:buClr>
            </a:pPr>
            <a:endParaRPr lang="nn-NO" sz="1800" dirty="0">
              <a:solidFill>
                <a:schemeClr val="bg1">
                  <a:lumMod val="95000"/>
                </a:schemeClr>
              </a:solidFill>
            </a:endParaRPr>
          </a:p>
          <a:p>
            <a:pPr marL="285750" indent="-285750">
              <a:buClr>
                <a:srgbClr val="FFC000"/>
              </a:buClr>
              <a:buFont typeface="Wingdings" panose="05000000000000000000" pitchFamily="2" charset="2"/>
              <a:buChar char="Ø"/>
            </a:pPr>
            <a:r>
              <a:rPr lang="en-US" sz="1800" b="1" dirty="0">
                <a:solidFill>
                  <a:schemeClr val="bg1">
                    <a:lumMod val="95000"/>
                  </a:schemeClr>
                </a:solidFill>
              </a:rPr>
              <a:t>Llama + LegalBERT</a:t>
            </a:r>
            <a:r>
              <a:rPr lang="en-US" sz="1800" dirty="0">
                <a:solidFill>
                  <a:schemeClr val="bg1">
                    <a:lumMod val="95000"/>
                  </a:schemeClr>
                </a:solidFill>
              </a:rPr>
              <a:t> – domain-aware embeddings.</a:t>
            </a:r>
          </a:p>
          <a:p>
            <a:pPr>
              <a:buClr>
                <a:srgbClr val="FFC000"/>
              </a:buClr>
            </a:pPr>
            <a:endParaRPr lang="en-US" sz="1800" dirty="0">
              <a:solidFill>
                <a:schemeClr val="bg1">
                  <a:lumMod val="95000"/>
                </a:schemeClr>
              </a:solidFill>
            </a:endParaRPr>
          </a:p>
          <a:p>
            <a:pPr marL="285750" indent="-285750">
              <a:buClr>
                <a:srgbClr val="FFC000"/>
              </a:buClr>
              <a:buFont typeface="Wingdings" panose="05000000000000000000" pitchFamily="2" charset="2"/>
              <a:buChar char="Ø"/>
            </a:pPr>
            <a:r>
              <a:rPr lang="en-US" sz="1800" b="1" dirty="0">
                <a:solidFill>
                  <a:schemeClr val="bg1">
                    <a:lumMod val="95000"/>
                  </a:schemeClr>
                </a:solidFill>
              </a:rPr>
              <a:t>SaulLM + MiniLM</a:t>
            </a:r>
            <a:r>
              <a:rPr lang="en-US" sz="1800" dirty="0">
                <a:solidFill>
                  <a:schemeClr val="bg1">
                    <a:lumMod val="95000"/>
                  </a:schemeClr>
                </a:solidFill>
              </a:rPr>
              <a:t> – legal LLM with generic retrieval.</a:t>
            </a:r>
          </a:p>
          <a:p>
            <a:pPr>
              <a:buClr>
                <a:srgbClr val="FFC000"/>
              </a:buClr>
            </a:pPr>
            <a:endParaRPr lang="en-US" sz="1800" dirty="0">
              <a:solidFill>
                <a:schemeClr val="bg1">
                  <a:lumMod val="95000"/>
                </a:schemeClr>
              </a:solidFill>
            </a:endParaRPr>
          </a:p>
          <a:p>
            <a:pPr marL="285750" indent="-285750">
              <a:buClr>
                <a:srgbClr val="FFC000"/>
              </a:buClr>
              <a:buFont typeface="Wingdings" panose="05000000000000000000" pitchFamily="2" charset="2"/>
              <a:buChar char="Ø"/>
            </a:pPr>
            <a:r>
              <a:rPr lang="en-US" sz="1800" b="1" dirty="0">
                <a:solidFill>
                  <a:schemeClr val="bg1">
                    <a:lumMod val="95000"/>
                  </a:schemeClr>
                </a:solidFill>
              </a:rPr>
              <a:t>SaulLM + LegalBERT</a:t>
            </a:r>
            <a:r>
              <a:rPr lang="en-US" sz="1800" dirty="0">
                <a:solidFill>
                  <a:schemeClr val="bg1">
                    <a:lumMod val="95000"/>
                  </a:schemeClr>
                </a:solidFill>
              </a:rPr>
              <a:t> – full legal-domain stack.</a:t>
            </a:r>
            <a:endParaRPr lang="en-US" sz="1800" dirty="0">
              <a:solidFill>
                <a:schemeClr val="bg1">
                  <a:lumMod val="95000"/>
                </a:schemeClr>
              </a:solidFill>
              <a:latin typeface="Inter"/>
              <a:ea typeface="Inter"/>
              <a:cs typeface="Inter"/>
              <a:sym typeface="Inter"/>
            </a:endParaRPr>
          </a:p>
          <a:p>
            <a:pPr lvl="0"/>
            <a:endParaRPr lang="en-US" sz="1800" b="1" dirty="0">
              <a:solidFill>
                <a:srgbClr val="FFC000"/>
              </a:solidFill>
              <a:latin typeface="Inter SemiBold"/>
              <a:ea typeface="Inter SemiBold"/>
              <a:cs typeface="Inter SemiBold"/>
              <a:sym typeface="Inter SemiBold"/>
            </a:endParaRPr>
          </a:p>
        </p:txBody>
      </p:sp>
      <p:sp>
        <p:nvSpPr>
          <p:cNvPr id="15" name="Google Shape;127;p15">
            <a:extLst>
              <a:ext uri="{FF2B5EF4-FFF2-40B4-BE49-F238E27FC236}">
                <a16:creationId xmlns:a16="http://schemas.microsoft.com/office/drawing/2014/main" id="{FA5042DF-51D5-FD9D-2924-3F16581902D0}"/>
              </a:ext>
            </a:extLst>
          </p:cNvPr>
          <p:cNvSpPr/>
          <p:nvPr/>
        </p:nvSpPr>
        <p:spPr>
          <a:xfrm flipH="1">
            <a:off x="6199179" y="1376320"/>
            <a:ext cx="45719" cy="4380104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" name="Google Shape;88;p13">
            <a:extLst>
              <a:ext uri="{FF2B5EF4-FFF2-40B4-BE49-F238E27FC236}">
                <a16:creationId xmlns:a16="http://schemas.microsoft.com/office/drawing/2014/main" id="{C00D98A9-9883-205B-BF67-70AA995EE71F}"/>
              </a:ext>
            </a:extLst>
          </p:cNvPr>
          <p:cNvSpPr txBox="1"/>
          <p:nvPr/>
        </p:nvSpPr>
        <p:spPr>
          <a:xfrm>
            <a:off x="7109151" y="1232165"/>
            <a:ext cx="3037005" cy="4308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r>
              <a:rPr lang="en-US" sz="2800" b="1" dirty="0">
                <a:solidFill>
                  <a:srgbClr val="FFC000"/>
                </a:solidFill>
                <a:latin typeface="Urbanist"/>
                <a:ea typeface="Urbanist"/>
                <a:cs typeface="Urbanist"/>
                <a:sym typeface="Urbanist"/>
              </a:rPr>
              <a:t>Metrics Used:</a:t>
            </a:r>
          </a:p>
        </p:txBody>
      </p:sp>
      <p:sp>
        <p:nvSpPr>
          <p:cNvPr id="20" name="Google Shape;88;p13">
            <a:extLst>
              <a:ext uri="{FF2B5EF4-FFF2-40B4-BE49-F238E27FC236}">
                <a16:creationId xmlns:a16="http://schemas.microsoft.com/office/drawing/2014/main" id="{04A72EA5-0432-AFF5-A165-246441A632E6}"/>
              </a:ext>
            </a:extLst>
          </p:cNvPr>
          <p:cNvSpPr txBox="1"/>
          <p:nvPr/>
        </p:nvSpPr>
        <p:spPr>
          <a:xfrm>
            <a:off x="6454516" y="1663051"/>
            <a:ext cx="5622755" cy="22159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endParaRPr lang="en-US" sz="1800" dirty="0">
              <a:solidFill>
                <a:schemeClr val="bg1">
                  <a:lumMod val="95000"/>
                </a:schemeClr>
              </a:solidFill>
            </a:endParaRPr>
          </a:p>
          <a:p>
            <a:pPr marL="285750" indent="-285750">
              <a:buClr>
                <a:srgbClr val="FFC000"/>
              </a:buClr>
              <a:buFont typeface="Wingdings" panose="05000000000000000000" pitchFamily="2" charset="2"/>
              <a:buChar char="Ø"/>
            </a:pPr>
            <a:r>
              <a:rPr lang="en-US" sz="1800" b="1" dirty="0">
                <a:solidFill>
                  <a:schemeClr val="bg1">
                    <a:lumMod val="95000"/>
                  </a:schemeClr>
                </a:solidFill>
              </a:rPr>
              <a:t>Verdict Accuracy </a:t>
            </a:r>
            <a:r>
              <a:rPr lang="en-US" sz="1800" dirty="0">
                <a:solidFill>
                  <a:schemeClr val="bg1">
                    <a:lumMod val="95000"/>
                  </a:schemeClr>
                </a:solidFill>
              </a:rPr>
              <a:t>– correct regulatory conclusion.</a:t>
            </a:r>
          </a:p>
          <a:p>
            <a:pPr>
              <a:buClr>
                <a:srgbClr val="FFC000"/>
              </a:buClr>
            </a:pPr>
            <a:endParaRPr lang="nn-NO" sz="1800" dirty="0">
              <a:solidFill>
                <a:schemeClr val="bg1">
                  <a:lumMod val="95000"/>
                </a:schemeClr>
              </a:solidFill>
            </a:endParaRPr>
          </a:p>
          <a:p>
            <a:pPr marL="285750" indent="-285750">
              <a:buClr>
                <a:srgbClr val="FFC000"/>
              </a:buClr>
              <a:buFont typeface="Wingdings" panose="05000000000000000000" pitchFamily="2" charset="2"/>
              <a:buChar char="Ø"/>
            </a:pPr>
            <a:r>
              <a:rPr lang="en-US" sz="1800" b="1" dirty="0">
                <a:solidFill>
                  <a:schemeClr val="bg1">
                    <a:lumMod val="95000"/>
                  </a:schemeClr>
                </a:solidFill>
              </a:rPr>
              <a:t>Hit@K </a:t>
            </a:r>
            <a:r>
              <a:rPr lang="en-US" sz="1800" dirty="0">
                <a:solidFill>
                  <a:schemeClr val="bg1">
                    <a:lumMod val="95000"/>
                  </a:schemeClr>
                </a:solidFill>
              </a:rPr>
              <a:t>– relevant source retrieved in top-K.</a:t>
            </a:r>
          </a:p>
          <a:p>
            <a:pPr>
              <a:buClr>
                <a:srgbClr val="FFC000"/>
              </a:buClr>
            </a:pPr>
            <a:endParaRPr lang="en-US" sz="1800" dirty="0">
              <a:solidFill>
                <a:schemeClr val="bg1">
                  <a:lumMod val="95000"/>
                </a:schemeClr>
              </a:solidFill>
            </a:endParaRPr>
          </a:p>
          <a:p>
            <a:pPr marL="285750" indent="-285750">
              <a:buClr>
                <a:srgbClr val="FFC000"/>
              </a:buClr>
              <a:buFont typeface="Wingdings" panose="05000000000000000000" pitchFamily="2" charset="2"/>
              <a:buChar char="Ø"/>
            </a:pPr>
            <a:r>
              <a:rPr lang="en-US" sz="1800" b="1" dirty="0">
                <a:solidFill>
                  <a:schemeClr val="bg1">
                    <a:lumMod val="95000"/>
                  </a:schemeClr>
                </a:solidFill>
              </a:rPr>
              <a:t>Hallucination Rate </a:t>
            </a:r>
            <a:r>
              <a:rPr lang="en-US" sz="1800" dirty="0">
                <a:solidFill>
                  <a:schemeClr val="bg1">
                    <a:lumMod val="95000"/>
                  </a:schemeClr>
                </a:solidFill>
              </a:rPr>
              <a:t>–</a:t>
            </a:r>
            <a:r>
              <a:rPr lang="en-US" sz="1800" b="1" dirty="0">
                <a:solidFill>
                  <a:schemeClr val="bg1">
                    <a:lumMod val="95000"/>
                  </a:schemeClr>
                </a:solidFill>
              </a:rPr>
              <a:t> </a:t>
            </a:r>
            <a:r>
              <a:rPr lang="en-US" sz="1800" dirty="0">
                <a:solidFill>
                  <a:srgbClr val="F2F2F2"/>
                </a:solidFill>
              </a:rPr>
              <a:t>percentage of definitive answers provided when the context contains no relevant information.</a:t>
            </a:r>
            <a:endParaRPr lang="en-US" sz="1800" dirty="0">
              <a:solidFill>
                <a:srgbClr val="F2F2F2"/>
              </a:solidFill>
              <a:latin typeface="Inter SemiBold"/>
              <a:ea typeface="Inter SemiBold"/>
              <a:cs typeface="Inter SemiBold"/>
              <a:sym typeface="Inter SemiBold"/>
            </a:endParaRPr>
          </a:p>
        </p:txBody>
      </p:sp>
      <p:pic>
        <p:nvPicPr>
          <p:cNvPr id="22" name="Picture 21">
            <a:extLst>
              <a:ext uri="{FF2B5EF4-FFF2-40B4-BE49-F238E27FC236}">
                <a16:creationId xmlns:a16="http://schemas.microsoft.com/office/drawing/2014/main" id="{6DF1715D-AC90-6715-6822-1A5CD07E45E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03429" y="4231511"/>
            <a:ext cx="3425555" cy="1926875"/>
          </a:xfrm>
          <a:prstGeom prst="rect">
            <a:avLst/>
          </a:prstGeom>
        </p:spPr>
      </p:pic>
      <p:pic>
        <p:nvPicPr>
          <p:cNvPr id="26" name="Graphic 25" descr="Bullseye with solid fill">
            <a:extLst>
              <a:ext uri="{FF2B5EF4-FFF2-40B4-BE49-F238E27FC236}">
                <a16:creationId xmlns:a16="http://schemas.microsoft.com/office/drawing/2014/main" id="{220E0D56-989B-B2E0-6C39-84BBD027973E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464437" y="1176088"/>
            <a:ext cx="539905" cy="539905"/>
          </a:xfrm>
          <a:prstGeom prst="rect">
            <a:avLst/>
          </a:prstGeom>
        </p:spPr>
      </p:pic>
      <p:pic>
        <p:nvPicPr>
          <p:cNvPr id="23" name="Graphic 22" descr="Remote learning language with solid fill">
            <a:extLst>
              <a:ext uri="{FF2B5EF4-FFF2-40B4-BE49-F238E27FC236}">
                <a16:creationId xmlns:a16="http://schemas.microsoft.com/office/drawing/2014/main" id="{110DA3DB-FA67-9244-5765-FC21F0DCB2E1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362845" y="1152333"/>
            <a:ext cx="587416" cy="5874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305904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2">
          <a:extLst>
            <a:ext uri="{FF2B5EF4-FFF2-40B4-BE49-F238E27FC236}">
              <a16:creationId xmlns:a16="http://schemas.microsoft.com/office/drawing/2014/main" id="{9E39459F-7C10-3BB3-8045-BCB7B4D1C3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3" name="Google Shape;123;p15" descr="image.png">
            <a:extLst>
              <a:ext uri="{FF2B5EF4-FFF2-40B4-BE49-F238E27FC236}">
                <a16:creationId xmlns:a16="http://schemas.microsoft.com/office/drawing/2014/main" id="{10C7B529-3227-4B4D-B99F-6C7239C4D60C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7" name="Google Shape;86;p13">
            <a:extLst>
              <a:ext uri="{FF2B5EF4-FFF2-40B4-BE49-F238E27FC236}">
                <a16:creationId xmlns:a16="http://schemas.microsoft.com/office/drawing/2014/main" id="{2E328B64-B46F-3B73-99A3-CEB459822ADD}"/>
              </a:ext>
            </a:extLst>
          </p:cNvPr>
          <p:cNvSpPr txBox="1"/>
          <p:nvPr/>
        </p:nvSpPr>
        <p:spPr>
          <a:xfrm>
            <a:off x="492822" y="270246"/>
            <a:ext cx="5902159" cy="5078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/>
            <a:r>
              <a:rPr lang="en-US" sz="3300" b="1" dirty="0">
                <a:solidFill>
                  <a:schemeClr val="bg1"/>
                </a:solidFill>
              </a:rPr>
              <a:t>NOVELTY </a:t>
            </a:r>
            <a:r>
              <a:rPr lang="en-US" sz="3300" b="1" dirty="0">
                <a:solidFill>
                  <a:srgbClr val="FFC000"/>
                </a:solidFill>
              </a:rPr>
              <a:t>&amp;</a:t>
            </a:r>
            <a:r>
              <a:rPr lang="en-US" sz="3300" b="1" dirty="0">
                <a:solidFill>
                  <a:schemeClr val="bg1"/>
                </a:solidFill>
              </a:rPr>
              <a:t> ACHIEVEMENTS</a:t>
            </a:r>
            <a:endParaRPr lang="en-US" sz="3300" b="1" i="0" u="none" strike="noStrike" cap="none" dirty="0">
              <a:solidFill>
                <a:schemeClr val="bg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8" name="Google Shape;88;p13">
            <a:extLst>
              <a:ext uri="{FF2B5EF4-FFF2-40B4-BE49-F238E27FC236}">
                <a16:creationId xmlns:a16="http://schemas.microsoft.com/office/drawing/2014/main" id="{C18BC9F1-125A-C791-C5E1-D8BBC34978A5}"/>
              </a:ext>
            </a:extLst>
          </p:cNvPr>
          <p:cNvSpPr txBox="1"/>
          <p:nvPr/>
        </p:nvSpPr>
        <p:spPr>
          <a:xfrm>
            <a:off x="7027100" y="1230811"/>
            <a:ext cx="3914583" cy="4308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r>
              <a:rPr lang="en-US" sz="2800" b="1" dirty="0">
                <a:solidFill>
                  <a:srgbClr val="FFC000"/>
                </a:solidFill>
              </a:rPr>
              <a:t>Project Achievements</a:t>
            </a:r>
            <a:r>
              <a:rPr lang="en-US" sz="2800" b="1" dirty="0">
                <a:solidFill>
                  <a:srgbClr val="FFC000"/>
                </a:solidFill>
                <a:latin typeface="Urbanist"/>
                <a:ea typeface="Urbanist"/>
                <a:cs typeface="Urbanist"/>
                <a:sym typeface="Urbanist"/>
              </a:rPr>
              <a:t>:</a:t>
            </a:r>
          </a:p>
        </p:txBody>
      </p:sp>
      <p:sp>
        <p:nvSpPr>
          <p:cNvPr id="9" name="Google Shape;127;p15">
            <a:extLst>
              <a:ext uri="{FF2B5EF4-FFF2-40B4-BE49-F238E27FC236}">
                <a16:creationId xmlns:a16="http://schemas.microsoft.com/office/drawing/2014/main" id="{138644A3-6346-9079-D737-0404C26A7C58}"/>
              </a:ext>
            </a:extLst>
          </p:cNvPr>
          <p:cNvSpPr/>
          <p:nvPr/>
        </p:nvSpPr>
        <p:spPr>
          <a:xfrm>
            <a:off x="362845" y="238941"/>
            <a:ext cx="57150" cy="504825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" name="Google Shape;88;p13">
            <a:extLst>
              <a:ext uri="{FF2B5EF4-FFF2-40B4-BE49-F238E27FC236}">
                <a16:creationId xmlns:a16="http://schemas.microsoft.com/office/drawing/2014/main" id="{2A627BBE-2443-6D5E-4B29-FA3CC343836F}"/>
              </a:ext>
            </a:extLst>
          </p:cNvPr>
          <p:cNvSpPr txBox="1"/>
          <p:nvPr/>
        </p:nvSpPr>
        <p:spPr>
          <a:xfrm>
            <a:off x="6562360" y="1661697"/>
            <a:ext cx="5166513" cy="33239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endParaRPr lang="en-US" sz="1800" dirty="0">
              <a:solidFill>
                <a:schemeClr val="bg1">
                  <a:lumMod val="95000"/>
                </a:schemeClr>
              </a:solidFill>
            </a:endParaRPr>
          </a:p>
          <a:p>
            <a:pPr marL="285750" indent="-285750">
              <a:buClr>
                <a:srgbClr val="FFC000"/>
              </a:buClr>
              <a:buFont typeface="Wingdings" panose="05000000000000000000" pitchFamily="2" charset="2"/>
              <a:buChar char="Ø"/>
            </a:pPr>
            <a:r>
              <a:rPr lang="en-US" sz="1800" dirty="0">
                <a:solidFill>
                  <a:schemeClr val="bg1">
                    <a:lumMod val="95000"/>
                  </a:schemeClr>
                </a:solidFill>
              </a:rPr>
              <a:t>Built a full end-to-end RAG system for regulatory question answering.</a:t>
            </a:r>
          </a:p>
          <a:p>
            <a:pPr marL="285750" indent="-285750">
              <a:buClr>
                <a:srgbClr val="FFC000"/>
              </a:buClr>
              <a:buFont typeface="Wingdings" panose="05000000000000000000" pitchFamily="2" charset="2"/>
              <a:buChar char="Ø"/>
            </a:pPr>
            <a:endParaRPr lang="nn-NO" sz="1800" dirty="0">
              <a:solidFill>
                <a:schemeClr val="bg1">
                  <a:lumMod val="95000"/>
                </a:schemeClr>
              </a:solidFill>
            </a:endParaRPr>
          </a:p>
          <a:p>
            <a:pPr marL="285750" indent="-285750">
              <a:buClr>
                <a:srgbClr val="FFC000"/>
              </a:buClr>
              <a:buFont typeface="Wingdings" panose="05000000000000000000" pitchFamily="2" charset="2"/>
              <a:buChar char="Ø"/>
            </a:pPr>
            <a:r>
              <a:rPr lang="en-US" sz="1800" dirty="0">
                <a:solidFill>
                  <a:schemeClr val="bg1">
                    <a:lumMod val="95000"/>
                  </a:schemeClr>
                </a:solidFill>
              </a:rPr>
              <a:t>Benchmarked general vs legal LLMs and embeddings under identical conditions.</a:t>
            </a:r>
          </a:p>
          <a:p>
            <a:pPr>
              <a:buClr>
                <a:srgbClr val="FFC000"/>
              </a:buClr>
            </a:pPr>
            <a:endParaRPr lang="en-US" sz="1800" dirty="0">
              <a:solidFill>
                <a:schemeClr val="bg1">
                  <a:lumMod val="95000"/>
                </a:schemeClr>
              </a:solidFill>
            </a:endParaRPr>
          </a:p>
          <a:p>
            <a:pPr marL="285750" indent="-285750">
              <a:buClr>
                <a:srgbClr val="FFC000"/>
              </a:buClr>
              <a:buFont typeface="Wingdings" panose="05000000000000000000" pitchFamily="2" charset="2"/>
              <a:buChar char="Ø"/>
            </a:pPr>
            <a:r>
              <a:rPr lang="en-US" sz="1800" dirty="0">
                <a:solidFill>
                  <a:schemeClr val="bg1">
                    <a:lumMod val="95000"/>
                  </a:schemeClr>
                </a:solidFill>
              </a:rPr>
              <a:t>Designed a quantitative evaluation framework beyond generic accuracy.</a:t>
            </a:r>
          </a:p>
          <a:p>
            <a:pPr>
              <a:buClr>
                <a:srgbClr val="FFC000"/>
              </a:buClr>
            </a:pPr>
            <a:endParaRPr lang="en-US" sz="1800" dirty="0">
              <a:solidFill>
                <a:schemeClr val="bg1">
                  <a:lumMod val="95000"/>
                </a:schemeClr>
              </a:solidFill>
            </a:endParaRPr>
          </a:p>
          <a:p>
            <a:pPr marL="285750" indent="-285750">
              <a:buClr>
                <a:srgbClr val="FFC000"/>
              </a:buClr>
              <a:buFont typeface="Wingdings" panose="05000000000000000000" pitchFamily="2" charset="2"/>
              <a:buChar char="Ø"/>
            </a:pPr>
            <a:r>
              <a:rPr lang="en-US" sz="1800" dirty="0">
                <a:solidFill>
                  <a:schemeClr val="bg1">
                    <a:lumMod val="95000"/>
                  </a:schemeClr>
                </a:solidFill>
              </a:rPr>
              <a:t>Improved answer grounding and source alignment in regulatory Q&amp;A.</a:t>
            </a:r>
            <a:endParaRPr lang="en-US" sz="1800" dirty="0">
              <a:solidFill>
                <a:schemeClr val="bg1">
                  <a:lumMod val="95000"/>
                </a:schemeClr>
              </a:solidFill>
              <a:latin typeface="Inter SemiBold"/>
              <a:ea typeface="Inter SemiBold"/>
              <a:cs typeface="Inter SemiBold"/>
              <a:sym typeface="Inter SemiBold"/>
            </a:endParaRPr>
          </a:p>
        </p:txBody>
      </p:sp>
      <p:sp>
        <p:nvSpPr>
          <p:cNvPr id="18" name="Google Shape;88;p13">
            <a:extLst>
              <a:ext uri="{FF2B5EF4-FFF2-40B4-BE49-F238E27FC236}">
                <a16:creationId xmlns:a16="http://schemas.microsoft.com/office/drawing/2014/main" id="{15FA4A97-1A9D-3562-E268-E56177AF29AA}"/>
              </a:ext>
            </a:extLst>
          </p:cNvPr>
          <p:cNvSpPr txBox="1"/>
          <p:nvPr/>
        </p:nvSpPr>
        <p:spPr>
          <a:xfrm>
            <a:off x="840612" y="1230811"/>
            <a:ext cx="3037005" cy="4308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r>
              <a:rPr lang="en-US" sz="2800" b="1" dirty="0">
                <a:solidFill>
                  <a:srgbClr val="FFC000"/>
                </a:solidFill>
              </a:rPr>
              <a:t>Project Novelty</a:t>
            </a:r>
            <a:r>
              <a:rPr lang="en-US" sz="2800" b="1" dirty="0">
                <a:solidFill>
                  <a:srgbClr val="FFC000"/>
                </a:solidFill>
                <a:latin typeface="Urbanist"/>
                <a:ea typeface="Urbanist"/>
                <a:cs typeface="Urbanist"/>
                <a:sym typeface="Urbanist"/>
              </a:rPr>
              <a:t>:</a:t>
            </a:r>
          </a:p>
        </p:txBody>
      </p:sp>
      <p:sp>
        <p:nvSpPr>
          <p:cNvPr id="20" name="Google Shape;88;p13">
            <a:extLst>
              <a:ext uri="{FF2B5EF4-FFF2-40B4-BE49-F238E27FC236}">
                <a16:creationId xmlns:a16="http://schemas.microsoft.com/office/drawing/2014/main" id="{61092D88-9540-C106-22B3-FE0F4C7F4759}"/>
              </a:ext>
            </a:extLst>
          </p:cNvPr>
          <p:cNvSpPr txBox="1"/>
          <p:nvPr/>
        </p:nvSpPr>
        <p:spPr>
          <a:xfrm>
            <a:off x="463127" y="1661697"/>
            <a:ext cx="5622755" cy="33239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endParaRPr lang="en-US" sz="1800" dirty="0">
              <a:solidFill>
                <a:schemeClr val="bg1">
                  <a:lumMod val="95000"/>
                </a:schemeClr>
              </a:solidFill>
            </a:endParaRPr>
          </a:p>
          <a:p>
            <a:pPr marL="285750" indent="-285750">
              <a:buClr>
                <a:srgbClr val="FFC000"/>
              </a:buClr>
              <a:buFont typeface="Wingdings" panose="05000000000000000000" pitchFamily="2" charset="2"/>
              <a:buChar char="Ø"/>
            </a:pPr>
            <a:r>
              <a:rPr lang="en-US" sz="1800" dirty="0">
                <a:solidFill>
                  <a:schemeClr val="bg1">
                    <a:lumMod val="95000"/>
                  </a:schemeClr>
                </a:solidFill>
              </a:rPr>
              <a:t>Systematic comparison of legal vs general model stacks in a regulatory RAG setting.</a:t>
            </a:r>
          </a:p>
          <a:p>
            <a:pPr>
              <a:buClr>
                <a:srgbClr val="FFC000"/>
              </a:buClr>
            </a:pPr>
            <a:endParaRPr lang="nn-NO" sz="1800" dirty="0">
              <a:solidFill>
                <a:schemeClr val="bg1">
                  <a:lumMod val="95000"/>
                </a:schemeClr>
              </a:solidFill>
            </a:endParaRPr>
          </a:p>
          <a:p>
            <a:pPr marL="285750" indent="-285750">
              <a:buClr>
                <a:srgbClr val="FFC000"/>
              </a:buClr>
              <a:buFont typeface="Wingdings" panose="05000000000000000000" pitchFamily="2" charset="2"/>
              <a:buChar char="Ø"/>
            </a:pPr>
            <a:r>
              <a:rPr lang="en-US" sz="1800" dirty="0">
                <a:solidFill>
                  <a:schemeClr val="bg1">
                    <a:lumMod val="95000"/>
                  </a:schemeClr>
                </a:solidFill>
              </a:rPr>
              <a:t>Introduced citation-level evaluation for regulatory correctness.</a:t>
            </a:r>
          </a:p>
          <a:p>
            <a:pPr>
              <a:buClr>
                <a:srgbClr val="FFC000"/>
              </a:buClr>
            </a:pPr>
            <a:endParaRPr lang="en-US" sz="1800" dirty="0">
              <a:solidFill>
                <a:schemeClr val="bg1">
                  <a:lumMod val="95000"/>
                </a:schemeClr>
              </a:solidFill>
            </a:endParaRPr>
          </a:p>
          <a:p>
            <a:pPr marL="285750" indent="-285750">
              <a:buClr>
                <a:srgbClr val="FFC000"/>
              </a:buClr>
              <a:buFont typeface="Wingdings" panose="05000000000000000000" pitchFamily="2" charset="2"/>
              <a:buChar char="Ø"/>
            </a:pPr>
            <a:r>
              <a:rPr lang="en-US" sz="1800" dirty="0">
                <a:solidFill>
                  <a:schemeClr val="bg1">
                    <a:lumMod val="95000"/>
                  </a:schemeClr>
                </a:solidFill>
              </a:rPr>
              <a:t>Combined synthetic legal Q&amp;A generation with real regulatory texts.</a:t>
            </a:r>
          </a:p>
          <a:p>
            <a:pPr marL="285750" indent="-285750">
              <a:buClr>
                <a:srgbClr val="FFC000"/>
              </a:buClr>
              <a:buFont typeface="Wingdings" panose="05000000000000000000" pitchFamily="2" charset="2"/>
              <a:buChar char="Ø"/>
            </a:pPr>
            <a:endParaRPr lang="en-US" sz="1800" dirty="0">
              <a:solidFill>
                <a:schemeClr val="bg1">
                  <a:lumMod val="95000"/>
                </a:schemeClr>
              </a:solidFill>
            </a:endParaRPr>
          </a:p>
          <a:p>
            <a:pPr marL="285750" indent="-285750">
              <a:buClr>
                <a:srgbClr val="FFC000"/>
              </a:buClr>
              <a:buFont typeface="Wingdings" panose="05000000000000000000" pitchFamily="2" charset="2"/>
              <a:buChar char="Ø"/>
            </a:pPr>
            <a:r>
              <a:rPr lang="en-US" sz="1800" dirty="0">
                <a:solidFill>
                  <a:schemeClr val="bg1">
                    <a:lumMod val="95000"/>
                  </a:schemeClr>
                </a:solidFill>
              </a:rPr>
              <a:t>Focused on trustworthiness, not just language fluency.</a:t>
            </a:r>
            <a:endParaRPr lang="en-US" sz="1800" dirty="0">
              <a:solidFill>
                <a:schemeClr val="bg1">
                  <a:lumMod val="95000"/>
                </a:schemeClr>
              </a:solidFill>
              <a:latin typeface="Inter SemiBold"/>
              <a:ea typeface="Inter SemiBold"/>
              <a:cs typeface="Inter SemiBold"/>
              <a:sym typeface="Inter SemiBold"/>
            </a:endParaRPr>
          </a:p>
        </p:txBody>
      </p:sp>
      <p:pic>
        <p:nvPicPr>
          <p:cNvPr id="3" name="Graphic 2" descr="Checkbox Checked with solid fill">
            <a:extLst>
              <a:ext uri="{FF2B5EF4-FFF2-40B4-BE49-F238E27FC236}">
                <a16:creationId xmlns:a16="http://schemas.microsoft.com/office/drawing/2014/main" id="{587DFB24-86DB-C360-4513-98EF6B6B61F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321924" y="1093665"/>
            <a:ext cx="705176" cy="705176"/>
          </a:xfrm>
          <a:prstGeom prst="rect">
            <a:avLst/>
          </a:prstGeom>
        </p:spPr>
      </p:pic>
      <p:pic>
        <p:nvPicPr>
          <p:cNvPr id="13" name="Graphic 12" descr="Medal with solid fill">
            <a:extLst>
              <a:ext uri="{FF2B5EF4-FFF2-40B4-BE49-F238E27FC236}">
                <a16:creationId xmlns:a16="http://schemas.microsoft.com/office/drawing/2014/main" id="{207E7972-F46C-D604-A86C-88EA704AB211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299348" y="1188844"/>
            <a:ext cx="514818" cy="5148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1767852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2">
          <a:extLst>
            <a:ext uri="{FF2B5EF4-FFF2-40B4-BE49-F238E27FC236}">
              <a16:creationId xmlns:a16="http://schemas.microsoft.com/office/drawing/2014/main" id="{1BDEC25A-F51A-0F72-81C7-0362C45153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3" name="Google Shape;123;p15" descr="image.png">
            <a:extLst>
              <a:ext uri="{FF2B5EF4-FFF2-40B4-BE49-F238E27FC236}">
                <a16:creationId xmlns:a16="http://schemas.microsoft.com/office/drawing/2014/main" id="{5D6BFB6A-2D84-18F1-01A3-2F3098A9259C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4" name="Google Shape;86;p13">
            <a:extLst>
              <a:ext uri="{FF2B5EF4-FFF2-40B4-BE49-F238E27FC236}">
                <a16:creationId xmlns:a16="http://schemas.microsoft.com/office/drawing/2014/main" id="{15735ED6-4B78-2590-17B1-8F0CA0F9AD3A}"/>
              </a:ext>
            </a:extLst>
          </p:cNvPr>
          <p:cNvSpPr txBox="1"/>
          <p:nvPr/>
        </p:nvSpPr>
        <p:spPr>
          <a:xfrm>
            <a:off x="492822" y="238941"/>
            <a:ext cx="5902159" cy="5078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/>
            <a:r>
              <a:rPr lang="en-US" sz="3300" b="1" i="0" u="none" strike="noStrike" cap="none">
                <a:solidFill>
                  <a:schemeClr val="bg1"/>
                </a:solidFill>
                <a:latin typeface="Urbanist"/>
                <a:ea typeface="Urbanist"/>
                <a:cs typeface="Urbanist"/>
                <a:sym typeface="Urbanist"/>
              </a:rPr>
              <a:t>PI</a:t>
            </a:r>
            <a:r>
              <a:rPr lang="en-US" sz="3300" b="1">
                <a:solidFill>
                  <a:schemeClr val="bg1"/>
                </a:solidFill>
                <a:latin typeface="Urbanist"/>
                <a:ea typeface="Urbanist"/>
                <a:cs typeface="Urbanist"/>
                <a:sym typeface="Urbanist"/>
              </a:rPr>
              <a:t>PELINE</a:t>
            </a:r>
            <a:endParaRPr lang="en-US" sz="3300" b="1" i="0" u="none" strike="noStrike" cap="none" dirty="0">
              <a:solidFill>
                <a:schemeClr val="bg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25" name="Google Shape;127;p15">
            <a:extLst>
              <a:ext uri="{FF2B5EF4-FFF2-40B4-BE49-F238E27FC236}">
                <a16:creationId xmlns:a16="http://schemas.microsoft.com/office/drawing/2014/main" id="{1FDAC2C6-7DDC-DDEF-02DF-0F121B7BB855}"/>
              </a:ext>
            </a:extLst>
          </p:cNvPr>
          <p:cNvSpPr/>
          <p:nvPr/>
        </p:nvSpPr>
        <p:spPr>
          <a:xfrm>
            <a:off x="362845" y="238941"/>
            <a:ext cx="57150" cy="504825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FA1DA838-4605-842E-7C7A-1511466AB799}"/>
              </a:ext>
            </a:extLst>
          </p:cNvPr>
          <p:cNvSpPr txBox="1"/>
          <p:nvPr/>
        </p:nvSpPr>
        <p:spPr>
          <a:xfrm>
            <a:off x="3017827" y="3095607"/>
            <a:ext cx="6158392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LID4096" dirty="0"/>
          </a:p>
        </p:txBody>
      </p:sp>
      <p:pic>
        <p:nvPicPr>
          <p:cNvPr id="30" name="Picture 29">
            <a:extLst>
              <a:ext uri="{FF2B5EF4-FFF2-40B4-BE49-F238E27FC236}">
                <a16:creationId xmlns:a16="http://schemas.microsoft.com/office/drawing/2014/main" id="{B4C4EF44-0DC6-FCAF-C7A9-A8E29B14B6E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15542" y="788288"/>
            <a:ext cx="8960916" cy="55795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1746892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2">
          <a:extLst>
            <a:ext uri="{FF2B5EF4-FFF2-40B4-BE49-F238E27FC236}">
              <a16:creationId xmlns:a16="http://schemas.microsoft.com/office/drawing/2014/main" id="{D0A7CC1C-86D4-C571-70FC-ECE64402EE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3" name="Google Shape;123;p15" descr="image.png">
            <a:extLst>
              <a:ext uri="{FF2B5EF4-FFF2-40B4-BE49-F238E27FC236}">
                <a16:creationId xmlns:a16="http://schemas.microsoft.com/office/drawing/2014/main" id="{80333E22-D108-DA02-6229-75A082A79E55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-6137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7" name="Google Shape;86;p13">
            <a:extLst>
              <a:ext uri="{FF2B5EF4-FFF2-40B4-BE49-F238E27FC236}">
                <a16:creationId xmlns:a16="http://schemas.microsoft.com/office/drawing/2014/main" id="{6985ACC8-CA36-4C65-BFC8-104AA7A4FA09}"/>
              </a:ext>
            </a:extLst>
          </p:cNvPr>
          <p:cNvSpPr txBox="1"/>
          <p:nvPr/>
        </p:nvSpPr>
        <p:spPr>
          <a:xfrm>
            <a:off x="472494" y="255977"/>
            <a:ext cx="3422528" cy="5078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/>
            <a:r>
              <a:rPr lang="en-US" sz="3300" b="1" dirty="0">
                <a:solidFill>
                  <a:schemeClr val="bg1"/>
                </a:solidFill>
                <a:latin typeface="Urbanist"/>
                <a:ea typeface="Urbanist"/>
                <a:cs typeface="Urbanist"/>
                <a:sym typeface="Urbanist"/>
              </a:rPr>
              <a:t>METHODOLOGY</a:t>
            </a:r>
            <a:endParaRPr lang="en-US" sz="3300" b="1" i="0" u="none" strike="noStrike" cap="none" dirty="0">
              <a:solidFill>
                <a:schemeClr val="bg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8" name="Google Shape;88;p13">
            <a:extLst>
              <a:ext uri="{FF2B5EF4-FFF2-40B4-BE49-F238E27FC236}">
                <a16:creationId xmlns:a16="http://schemas.microsoft.com/office/drawing/2014/main" id="{58467C1D-E2DA-4082-8BBA-6B8FDA36AC41}"/>
              </a:ext>
            </a:extLst>
          </p:cNvPr>
          <p:cNvSpPr txBox="1"/>
          <p:nvPr/>
        </p:nvSpPr>
        <p:spPr>
          <a:xfrm>
            <a:off x="472494" y="1019785"/>
            <a:ext cx="3532177" cy="8617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r>
              <a:rPr lang="en-US" sz="2800" b="1" dirty="0">
                <a:solidFill>
                  <a:srgbClr val="FFC000"/>
                </a:solidFill>
                <a:latin typeface="Urbanist"/>
                <a:ea typeface="Urbanist"/>
                <a:cs typeface="Urbanist"/>
                <a:sym typeface="Urbanist"/>
              </a:rPr>
              <a:t>Part 1</a:t>
            </a:r>
          </a:p>
          <a:p>
            <a:r>
              <a:rPr lang="en-US" sz="2800" b="1" dirty="0">
                <a:solidFill>
                  <a:schemeClr val="bg1">
                    <a:lumMod val="95000"/>
                  </a:schemeClr>
                </a:solidFill>
                <a:latin typeface="Urbanist"/>
                <a:ea typeface="Urbanist"/>
                <a:cs typeface="Urbanist"/>
                <a:sym typeface="Urbanist"/>
              </a:rPr>
              <a:t>Fine Tuning: </a:t>
            </a:r>
          </a:p>
        </p:txBody>
      </p:sp>
      <p:sp>
        <p:nvSpPr>
          <p:cNvPr id="9" name="Google Shape;127;p15">
            <a:extLst>
              <a:ext uri="{FF2B5EF4-FFF2-40B4-BE49-F238E27FC236}">
                <a16:creationId xmlns:a16="http://schemas.microsoft.com/office/drawing/2014/main" id="{A281F43E-3EB0-604B-3A70-1D2F97D27837}"/>
              </a:ext>
            </a:extLst>
          </p:cNvPr>
          <p:cNvSpPr/>
          <p:nvPr/>
        </p:nvSpPr>
        <p:spPr>
          <a:xfrm>
            <a:off x="362845" y="238941"/>
            <a:ext cx="57150" cy="504825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" name="Google Shape;88;p13">
            <a:extLst>
              <a:ext uri="{FF2B5EF4-FFF2-40B4-BE49-F238E27FC236}">
                <a16:creationId xmlns:a16="http://schemas.microsoft.com/office/drawing/2014/main" id="{F5C197BB-24F6-1834-66BC-DF3077F15B3E}"/>
              </a:ext>
            </a:extLst>
          </p:cNvPr>
          <p:cNvSpPr txBox="1"/>
          <p:nvPr/>
        </p:nvSpPr>
        <p:spPr>
          <a:xfrm>
            <a:off x="472494" y="1812595"/>
            <a:ext cx="5576338" cy="47089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endParaRPr lang="en-US" sz="1800" dirty="0">
              <a:solidFill>
                <a:schemeClr val="bg1">
                  <a:lumMod val="95000"/>
                </a:schemeClr>
              </a:solidFill>
            </a:endParaRPr>
          </a:p>
          <a:p>
            <a:r>
              <a:rPr lang="en-US" sz="1800" dirty="0">
                <a:solidFill>
                  <a:schemeClr val="bg1">
                    <a:lumMod val="95000"/>
                  </a:schemeClr>
                </a:solidFill>
              </a:rPr>
              <a:t>Updating the model itself to optimize it for the task.</a:t>
            </a:r>
            <a:endParaRPr lang="en-US" sz="1800" dirty="0">
              <a:solidFill>
                <a:schemeClr val="bg1">
                  <a:lumMod val="95000"/>
                </a:schemeClr>
              </a:solidFill>
              <a:latin typeface="Inter"/>
              <a:ea typeface="Inter"/>
              <a:sym typeface="Inter"/>
            </a:endParaRPr>
          </a:p>
          <a:p>
            <a:endParaRPr lang="en-US" sz="1800" dirty="0">
              <a:solidFill>
                <a:schemeClr val="bg1">
                  <a:lumMod val="95000"/>
                </a:schemeClr>
              </a:solidFill>
            </a:endParaRPr>
          </a:p>
          <a:p>
            <a:pPr marL="285750" indent="-285750">
              <a:buClr>
                <a:srgbClr val="FFC000"/>
              </a:buClr>
              <a:buFont typeface="Wingdings" panose="05000000000000000000" pitchFamily="2" charset="2"/>
              <a:buChar char="Ø"/>
            </a:pPr>
            <a:r>
              <a:rPr lang="en-US" sz="1800" b="1" dirty="0">
                <a:solidFill>
                  <a:srgbClr val="FFC000"/>
                </a:solidFill>
              </a:rPr>
              <a:t>Domain Specialization</a:t>
            </a:r>
            <a:r>
              <a:rPr lang="en-US" sz="1800" dirty="0">
                <a:solidFill>
                  <a:schemeClr val="bg1">
                    <a:lumMod val="95000"/>
                  </a:schemeClr>
                </a:solidFill>
              </a:rPr>
              <a:t>:-</a:t>
            </a:r>
            <a:r>
              <a:rPr lang="en-US" sz="1800" b="1" dirty="0">
                <a:solidFill>
                  <a:schemeClr val="bg1">
                    <a:lumMod val="95000"/>
                  </a:schemeClr>
                </a:solidFill>
              </a:rPr>
              <a:t> </a:t>
            </a:r>
            <a:r>
              <a:rPr lang="en-US" sz="1800" dirty="0">
                <a:solidFill>
                  <a:schemeClr val="bg1">
                    <a:lumMod val="95000"/>
                  </a:schemeClr>
                </a:solidFill>
              </a:rPr>
              <a:t>Enhanced the model’s regulatory expertise</a:t>
            </a:r>
          </a:p>
          <a:p>
            <a:pPr>
              <a:buClr>
                <a:srgbClr val="FFC000"/>
              </a:buClr>
            </a:pPr>
            <a:endParaRPr lang="nn-NO" sz="1800" dirty="0">
              <a:solidFill>
                <a:schemeClr val="bg1">
                  <a:lumMod val="95000"/>
                </a:schemeClr>
              </a:solidFill>
            </a:endParaRPr>
          </a:p>
          <a:p>
            <a:pPr marL="285750" indent="-285750">
              <a:buClr>
                <a:srgbClr val="FFC000"/>
              </a:buClr>
              <a:buFont typeface="Wingdings" panose="05000000000000000000" pitchFamily="2" charset="2"/>
              <a:buChar char="Ø"/>
            </a:pPr>
            <a:r>
              <a:rPr lang="en-US" sz="1800" b="1" dirty="0">
                <a:solidFill>
                  <a:srgbClr val="FFC000"/>
                </a:solidFill>
              </a:rPr>
              <a:t>Robustness to Negatives </a:t>
            </a:r>
            <a:r>
              <a:rPr lang="en-US" sz="1800" b="1" dirty="0">
                <a:solidFill>
                  <a:schemeClr val="bg1">
                    <a:lumMod val="95000"/>
                  </a:schemeClr>
                </a:solidFill>
              </a:rPr>
              <a:t>- </a:t>
            </a:r>
            <a:r>
              <a:rPr lang="en-US" sz="1800" dirty="0">
                <a:solidFill>
                  <a:schemeClr val="bg1">
                    <a:lumMod val="95000"/>
                  </a:schemeClr>
                </a:solidFill>
              </a:rPr>
              <a:t>Trained the model on hard and soft negative samples to improve its ability to identify irrelevant information and avoid false positives.</a:t>
            </a:r>
          </a:p>
          <a:p>
            <a:pPr marL="285750" indent="-285750">
              <a:buClr>
                <a:srgbClr val="FFC000"/>
              </a:buClr>
              <a:buFont typeface="Wingdings" panose="05000000000000000000" pitchFamily="2" charset="2"/>
              <a:buChar char="Ø"/>
            </a:pPr>
            <a:endParaRPr lang="en-US" sz="1800" dirty="0">
              <a:solidFill>
                <a:srgbClr val="F2F2F2"/>
              </a:solidFill>
            </a:endParaRPr>
          </a:p>
          <a:p>
            <a:pPr marL="285750" indent="-285750">
              <a:buClr>
                <a:srgbClr val="FFC000"/>
              </a:buClr>
              <a:buFont typeface="Wingdings" panose="05000000000000000000" pitchFamily="2" charset="2"/>
              <a:buChar char="Ø"/>
            </a:pPr>
            <a:r>
              <a:rPr lang="en-US" sz="1800" b="1" dirty="0">
                <a:solidFill>
                  <a:srgbClr val="FFC000"/>
                </a:solidFill>
              </a:rPr>
              <a:t>Structured Output Optimization:</a:t>
            </a:r>
            <a:r>
              <a:rPr lang="en-US" sz="1800" dirty="0">
                <a:solidFill>
                  <a:srgbClr val="FFC000"/>
                </a:solidFill>
              </a:rPr>
              <a:t> </a:t>
            </a:r>
            <a:r>
              <a:rPr lang="en-US" sz="1800" dirty="0">
                <a:solidFill>
                  <a:schemeClr val="bg1">
                    <a:lumMod val="95000"/>
                  </a:schemeClr>
                </a:solidFill>
              </a:rPr>
              <a:t>Fine-tuned the model to ensure consistent and valid JSON formatting</a:t>
            </a:r>
          </a:p>
          <a:p>
            <a:pPr marL="285750" indent="-285750">
              <a:buClr>
                <a:srgbClr val="FFC000"/>
              </a:buClr>
              <a:buFont typeface="Wingdings" panose="05000000000000000000" pitchFamily="2" charset="2"/>
              <a:buChar char="Ø"/>
            </a:pPr>
            <a:endParaRPr lang="en-US" sz="1800" dirty="0">
              <a:solidFill>
                <a:schemeClr val="bg1">
                  <a:lumMod val="95000"/>
                </a:schemeClr>
              </a:solidFill>
            </a:endParaRPr>
          </a:p>
          <a:p>
            <a:pPr>
              <a:buClr>
                <a:srgbClr val="FFC000"/>
              </a:buClr>
            </a:pPr>
            <a:endParaRPr lang="en-US" sz="1800" dirty="0">
              <a:solidFill>
                <a:schemeClr val="bg1">
                  <a:lumMod val="95000"/>
                </a:schemeClr>
              </a:solidFill>
            </a:endParaRPr>
          </a:p>
          <a:p>
            <a:pPr lvl="0"/>
            <a:endParaRPr lang="en-US" sz="1800" b="1" dirty="0">
              <a:solidFill>
                <a:srgbClr val="FFC000"/>
              </a:solidFill>
              <a:latin typeface="Inter SemiBold"/>
              <a:ea typeface="Inter SemiBold"/>
              <a:cs typeface="Inter SemiBold"/>
              <a:sym typeface="Inter SemiBold"/>
            </a:endParaRPr>
          </a:p>
        </p:txBody>
      </p:sp>
      <p:sp>
        <p:nvSpPr>
          <p:cNvPr id="15" name="Google Shape;127;p15">
            <a:extLst>
              <a:ext uri="{FF2B5EF4-FFF2-40B4-BE49-F238E27FC236}">
                <a16:creationId xmlns:a16="http://schemas.microsoft.com/office/drawing/2014/main" id="{FA5042DF-51D5-FD9D-2924-3F16581902D0}"/>
              </a:ext>
            </a:extLst>
          </p:cNvPr>
          <p:cNvSpPr/>
          <p:nvPr/>
        </p:nvSpPr>
        <p:spPr>
          <a:xfrm>
            <a:off x="6142397" y="1972347"/>
            <a:ext cx="45719" cy="3669874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" name="Google Shape;88;p13">
            <a:extLst>
              <a:ext uri="{FF2B5EF4-FFF2-40B4-BE49-F238E27FC236}">
                <a16:creationId xmlns:a16="http://schemas.microsoft.com/office/drawing/2014/main" id="{52C44AC7-0284-96D8-76F7-12ECF0F81AA6}"/>
              </a:ext>
            </a:extLst>
          </p:cNvPr>
          <p:cNvSpPr txBox="1"/>
          <p:nvPr/>
        </p:nvSpPr>
        <p:spPr>
          <a:xfrm>
            <a:off x="6460578" y="1798773"/>
            <a:ext cx="5622755" cy="27699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endParaRPr lang="en-US" sz="1800" dirty="0">
              <a:solidFill>
                <a:srgbClr val="FFC000"/>
              </a:solidFill>
            </a:endParaRPr>
          </a:p>
          <a:p>
            <a:pPr marL="285750" indent="-285750">
              <a:buClr>
                <a:srgbClr val="FFC000"/>
              </a:buClr>
              <a:buFont typeface="Wingdings" panose="05000000000000000000" pitchFamily="2" charset="2"/>
              <a:buChar char="Ø"/>
            </a:pPr>
            <a:r>
              <a:rPr lang="en-US" sz="1800" b="1" dirty="0">
                <a:solidFill>
                  <a:srgbClr val="FFC000"/>
                </a:solidFill>
              </a:rPr>
              <a:t>Model Selection:</a:t>
            </a:r>
            <a:r>
              <a:rPr lang="en-US" sz="1800" dirty="0">
                <a:solidFill>
                  <a:srgbClr val="FFC000"/>
                </a:solidFill>
              </a:rPr>
              <a:t> </a:t>
            </a:r>
            <a:r>
              <a:rPr lang="en-US" sz="1800" dirty="0">
                <a:solidFill>
                  <a:schemeClr val="bg1">
                    <a:lumMod val="95000"/>
                  </a:schemeClr>
                </a:solidFill>
              </a:rPr>
              <a:t>Evaluated and compared </a:t>
            </a:r>
            <a:r>
              <a:rPr lang="en-US" sz="1800" b="1" dirty="0">
                <a:solidFill>
                  <a:schemeClr val="bg1">
                    <a:lumMod val="95000"/>
                  </a:schemeClr>
                </a:solidFill>
              </a:rPr>
              <a:t>Llama 3.1</a:t>
            </a:r>
            <a:r>
              <a:rPr lang="en-US" sz="1800" dirty="0">
                <a:solidFill>
                  <a:schemeClr val="bg1">
                    <a:lumMod val="95000"/>
                  </a:schemeClr>
                </a:solidFill>
              </a:rPr>
              <a:t> and </a:t>
            </a:r>
            <a:r>
              <a:rPr lang="en-US" sz="1800" b="1" dirty="0">
                <a:solidFill>
                  <a:schemeClr val="bg1">
                    <a:lumMod val="95000"/>
                  </a:schemeClr>
                </a:solidFill>
              </a:rPr>
              <a:t>Saul-7B (</a:t>
            </a:r>
            <a:r>
              <a:rPr lang="en-US" sz="1800" dirty="0">
                <a:solidFill>
                  <a:schemeClr val="bg1">
                    <a:lumMod val="95000"/>
                  </a:schemeClr>
                </a:solidFill>
              </a:rPr>
              <a:t>pre-trained on the legal domain).</a:t>
            </a:r>
          </a:p>
          <a:p>
            <a:pPr marL="285750" indent="-285750">
              <a:buClr>
                <a:srgbClr val="FFC000"/>
              </a:buClr>
              <a:buFont typeface="Wingdings" panose="05000000000000000000" pitchFamily="2" charset="2"/>
              <a:buChar char="Ø"/>
            </a:pPr>
            <a:endParaRPr lang="en-US" sz="1800" dirty="0">
              <a:solidFill>
                <a:srgbClr val="F2F2F2"/>
              </a:solidFill>
            </a:endParaRPr>
          </a:p>
          <a:p>
            <a:pPr marL="285750" indent="-285750">
              <a:buClr>
                <a:srgbClr val="FFC000"/>
              </a:buClr>
              <a:buFont typeface="Wingdings" panose="05000000000000000000" pitchFamily="2" charset="2"/>
              <a:buChar char="Ø"/>
            </a:pPr>
            <a:r>
              <a:rPr lang="en-US" sz="1800" b="1" dirty="0">
                <a:solidFill>
                  <a:srgbClr val="FFC000"/>
                </a:solidFill>
              </a:rPr>
              <a:t>Dataset Construction:</a:t>
            </a:r>
            <a:r>
              <a:rPr lang="en-US" sz="1800" dirty="0">
                <a:solidFill>
                  <a:srgbClr val="FFC000"/>
                </a:solidFill>
              </a:rPr>
              <a:t> </a:t>
            </a:r>
            <a:r>
              <a:rPr lang="en-US" sz="1800" dirty="0">
                <a:solidFill>
                  <a:schemeClr val="bg1">
                    <a:lumMod val="95000"/>
                  </a:schemeClr>
                </a:solidFill>
              </a:rPr>
              <a:t>Compiled a dataset of </a:t>
            </a:r>
            <a:r>
              <a:rPr lang="en-US" sz="1800" b="1" dirty="0">
                <a:solidFill>
                  <a:schemeClr val="bg1">
                    <a:lumMod val="95000"/>
                  </a:schemeClr>
                </a:solidFill>
              </a:rPr>
              <a:t>2,000+ examples</a:t>
            </a:r>
            <a:r>
              <a:rPr lang="en-US" sz="1800" dirty="0">
                <a:solidFill>
                  <a:schemeClr val="bg1">
                    <a:lumMod val="95000"/>
                  </a:schemeClr>
                </a:solidFill>
              </a:rPr>
              <a:t>, including </a:t>
            </a:r>
            <a:r>
              <a:rPr lang="en-US" sz="1800" b="1" dirty="0">
                <a:solidFill>
                  <a:schemeClr val="bg1">
                    <a:lumMod val="95000"/>
                  </a:schemeClr>
                </a:solidFill>
              </a:rPr>
              <a:t>15-20% negative samples</a:t>
            </a:r>
            <a:r>
              <a:rPr lang="en-US" sz="1800" dirty="0">
                <a:solidFill>
                  <a:schemeClr val="bg1">
                    <a:lumMod val="95000"/>
                  </a:schemeClr>
                </a:solidFill>
              </a:rPr>
              <a:t> to enhance robustness and prevent hallucinations.</a:t>
            </a:r>
          </a:p>
          <a:p>
            <a:pPr>
              <a:buClr>
                <a:srgbClr val="FFC000"/>
              </a:buClr>
            </a:pPr>
            <a:endParaRPr lang="nn-NO" sz="1800" dirty="0">
              <a:solidFill>
                <a:srgbClr val="F2F2F2"/>
              </a:solidFill>
            </a:endParaRPr>
          </a:p>
          <a:p>
            <a:pPr marL="285750" indent="-285750">
              <a:buClr>
                <a:srgbClr val="FFC000"/>
              </a:buClr>
              <a:buFont typeface="Wingdings" panose="05000000000000000000" pitchFamily="2" charset="2"/>
              <a:buChar char="Ø"/>
            </a:pPr>
            <a:r>
              <a:rPr lang="en-US" sz="1800" b="1" dirty="0">
                <a:solidFill>
                  <a:srgbClr val="FFC000"/>
                </a:solidFill>
              </a:rPr>
              <a:t>FT KPI’S:</a:t>
            </a:r>
            <a:endParaRPr lang="en-US" sz="1800" dirty="0">
              <a:solidFill>
                <a:srgbClr val="F2F2F2"/>
              </a:solidFill>
            </a:endParaRPr>
          </a:p>
        </p:txBody>
      </p:sp>
      <p:pic>
        <p:nvPicPr>
          <p:cNvPr id="3" name="תמונה 2" descr="תמונה שמכילה טקסט, צילום מסך, גופן, תוכנה&#10;&#10;תוכן בינה מלאכותית גנרטיבית עשוי להיות שגוי.">
            <a:extLst>
              <a:ext uri="{FF2B5EF4-FFF2-40B4-BE49-F238E27FC236}">
                <a16:creationId xmlns:a16="http://schemas.microsoft.com/office/drawing/2014/main" id="{CC6263CF-DBA7-C934-6D39-C37C9EB1A7E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02902" y="4771969"/>
            <a:ext cx="5085918" cy="14067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0527121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2">
          <a:extLst>
            <a:ext uri="{FF2B5EF4-FFF2-40B4-BE49-F238E27FC236}">
              <a16:creationId xmlns:a16="http://schemas.microsoft.com/office/drawing/2014/main" id="{4DB194B1-3DCE-3F91-906D-B3B2BB0187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3" name="Google Shape;123;p15" descr="image.png">
            <a:extLst>
              <a:ext uri="{FF2B5EF4-FFF2-40B4-BE49-F238E27FC236}">
                <a16:creationId xmlns:a16="http://schemas.microsoft.com/office/drawing/2014/main" id="{FFF7EC57-F27E-3B9C-3D28-C68F24BEEA67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7" name="Google Shape;86;p13">
            <a:extLst>
              <a:ext uri="{FF2B5EF4-FFF2-40B4-BE49-F238E27FC236}">
                <a16:creationId xmlns:a16="http://schemas.microsoft.com/office/drawing/2014/main" id="{A0E41725-3725-DB1B-AAAC-E101FDD678A0}"/>
              </a:ext>
            </a:extLst>
          </p:cNvPr>
          <p:cNvSpPr txBox="1"/>
          <p:nvPr/>
        </p:nvSpPr>
        <p:spPr>
          <a:xfrm>
            <a:off x="492822" y="270246"/>
            <a:ext cx="7667204" cy="5078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/>
            <a:r>
              <a:rPr lang="en-US" sz="3300" b="1" dirty="0">
                <a:solidFill>
                  <a:schemeClr val="bg1"/>
                </a:solidFill>
              </a:rPr>
              <a:t>FINE-</a:t>
            </a:r>
            <a:r>
              <a:rPr lang="en-US" sz="3300" b="1" dirty="0">
                <a:solidFill>
                  <a:srgbClr val="FFC000"/>
                </a:solidFill>
              </a:rPr>
              <a:t>TUNNING</a:t>
            </a:r>
            <a:r>
              <a:rPr lang="en-US" sz="3300" b="1" dirty="0">
                <a:solidFill>
                  <a:schemeClr val="bg1"/>
                </a:solidFill>
              </a:rPr>
              <a:t> INPUT</a:t>
            </a:r>
            <a:r>
              <a:rPr lang="en-US" sz="3300" b="1" dirty="0">
                <a:solidFill>
                  <a:srgbClr val="FFC000"/>
                </a:solidFill>
              </a:rPr>
              <a:t> &amp;</a:t>
            </a:r>
            <a:r>
              <a:rPr lang="en-US" sz="3300" b="1" dirty="0">
                <a:solidFill>
                  <a:schemeClr val="bg1"/>
                </a:solidFill>
              </a:rPr>
              <a:t> OUTPUT</a:t>
            </a:r>
            <a:endParaRPr lang="en-US" sz="3300" b="1" i="0" u="none" strike="noStrike" cap="none" dirty="0">
              <a:solidFill>
                <a:schemeClr val="bg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9" name="Google Shape;127;p15">
            <a:extLst>
              <a:ext uri="{FF2B5EF4-FFF2-40B4-BE49-F238E27FC236}">
                <a16:creationId xmlns:a16="http://schemas.microsoft.com/office/drawing/2014/main" id="{EBB9D8EE-C032-86C9-FC6A-FFD29353D4B9}"/>
              </a:ext>
            </a:extLst>
          </p:cNvPr>
          <p:cNvSpPr/>
          <p:nvPr/>
        </p:nvSpPr>
        <p:spPr>
          <a:xfrm>
            <a:off x="362845" y="238941"/>
            <a:ext cx="57150" cy="504825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" name="תמונה 2">
            <a:extLst>
              <a:ext uri="{FF2B5EF4-FFF2-40B4-BE49-F238E27FC236}">
                <a16:creationId xmlns:a16="http://schemas.microsoft.com/office/drawing/2014/main" id="{59D3E3D6-D96D-E2EE-4EF6-2DCE39ED571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250" y="3989501"/>
            <a:ext cx="12001500" cy="923925"/>
          </a:xfrm>
          <a:prstGeom prst="rect">
            <a:avLst/>
          </a:prstGeom>
        </p:spPr>
      </p:pic>
      <p:sp>
        <p:nvSpPr>
          <p:cNvPr id="4" name="תיבת טקסט 3">
            <a:extLst>
              <a:ext uri="{FF2B5EF4-FFF2-40B4-BE49-F238E27FC236}">
                <a16:creationId xmlns:a16="http://schemas.microsoft.com/office/drawing/2014/main" id="{3C2372BA-E655-8F7D-F346-6D249FA732EF}"/>
              </a:ext>
            </a:extLst>
          </p:cNvPr>
          <p:cNvSpPr txBox="1"/>
          <p:nvPr/>
        </p:nvSpPr>
        <p:spPr>
          <a:xfrm>
            <a:off x="4580283" y="3681724"/>
            <a:ext cx="3031434" cy="307777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en-US" b="1" dirty="0">
                <a:solidFill>
                  <a:srgbClr val="F2F2F2"/>
                </a:solidFill>
              </a:rPr>
              <a:t>OUTPUT EXAMPLE (INFERENCE)</a:t>
            </a:r>
            <a:endParaRPr lang="he-IL" b="1" dirty="0">
              <a:solidFill>
                <a:srgbClr val="F2F2F2"/>
              </a:solidFill>
            </a:endParaRPr>
          </a:p>
        </p:txBody>
      </p:sp>
      <p:pic>
        <p:nvPicPr>
          <p:cNvPr id="8" name="תמונה 7">
            <a:extLst>
              <a:ext uri="{FF2B5EF4-FFF2-40B4-BE49-F238E27FC236}">
                <a16:creationId xmlns:a16="http://schemas.microsoft.com/office/drawing/2014/main" id="{16EB5E19-4C90-13BC-CE9A-F22F50C3A42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57175" y="2207393"/>
            <a:ext cx="11677650" cy="676275"/>
          </a:xfrm>
          <a:prstGeom prst="rect">
            <a:avLst/>
          </a:prstGeom>
        </p:spPr>
      </p:pic>
      <p:sp>
        <p:nvSpPr>
          <p:cNvPr id="11" name="תיבת טקסט 10">
            <a:extLst>
              <a:ext uri="{FF2B5EF4-FFF2-40B4-BE49-F238E27FC236}">
                <a16:creationId xmlns:a16="http://schemas.microsoft.com/office/drawing/2014/main" id="{E5BDA33C-1611-2303-0C8B-6EB213733218}"/>
              </a:ext>
            </a:extLst>
          </p:cNvPr>
          <p:cNvSpPr txBox="1"/>
          <p:nvPr/>
        </p:nvSpPr>
        <p:spPr>
          <a:xfrm>
            <a:off x="4580283" y="1899616"/>
            <a:ext cx="3848100" cy="307777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en-US" b="1" dirty="0">
                <a:solidFill>
                  <a:srgbClr val="F2F2F2"/>
                </a:solidFill>
              </a:rPr>
              <a:t>ALPACA FORMAT INPUT (TRAIN)</a:t>
            </a:r>
            <a:endParaRPr lang="he-IL" b="1" dirty="0">
              <a:solidFill>
                <a:srgbClr val="F2F2F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9947599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2">
          <a:extLst>
            <a:ext uri="{FF2B5EF4-FFF2-40B4-BE49-F238E27FC236}">
              <a16:creationId xmlns:a16="http://schemas.microsoft.com/office/drawing/2014/main" id="{B7E45490-93F0-3B6A-F740-B4ED1EBF7A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3" name="Google Shape;123;p15" descr="image.png">
            <a:extLst>
              <a:ext uri="{FF2B5EF4-FFF2-40B4-BE49-F238E27FC236}">
                <a16:creationId xmlns:a16="http://schemas.microsoft.com/office/drawing/2014/main" id="{D5DC8BDF-6C09-9ADD-D774-BFB7D8F23E9A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7" name="Google Shape;86;p13">
            <a:extLst>
              <a:ext uri="{FF2B5EF4-FFF2-40B4-BE49-F238E27FC236}">
                <a16:creationId xmlns:a16="http://schemas.microsoft.com/office/drawing/2014/main" id="{39A379A4-BEF5-E2BF-980E-C86AF2F1D277}"/>
              </a:ext>
            </a:extLst>
          </p:cNvPr>
          <p:cNvSpPr txBox="1"/>
          <p:nvPr/>
        </p:nvSpPr>
        <p:spPr>
          <a:xfrm>
            <a:off x="468274" y="250911"/>
            <a:ext cx="3463569" cy="5078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/>
            <a:r>
              <a:rPr lang="en-US" sz="3300" b="1" dirty="0">
                <a:solidFill>
                  <a:schemeClr val="bg1"/>
                </a:solidFill>
                <a:latin typeface="Urbanist"/>
                <a:ea typeface="Urbanist"/>
                <a:cs typeface="Urbanist"/>
                <a:sym typeface="Urbanist"/>
              </a:rPr>
              <a:t>METHODOLOGY</a:t>
            </a:r>
            <a:endParaRPr lang="en-US" sz="3300" b="1" i="0" u="none" strike="noStrike" cap="none" dirty="0">
              <a:solidFill>
                <a:srgbClr val="FFC000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8" name="Google Shape;88;p13">
            <a:extLst>
              <a:ext uri="{FF2B5EF4-FFF2-40B4-BE49-F238E27FC236}">
                <a16:creationId xmlns:a16="http://schemas.microsoft.com/office/drawing/2014/main" id="{06643459-4822-66DD-8F33-2228FF27E3C6}"/>
              </a:ext>
            </a:extLst>
          </p:cNvPr>
          <p:cNvSpPr txBox="1"/>
          <p:nvPr/>
        </p:nvSpPr>
        <p:spPr>
          <a:xfrm>
            <a:off x="473245" y="1009653"/>
            <a:ext cx="3037005" cy="8617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r>
              <a:rPr lang="en-US" sz="2800" b="1" dirty="0">
                <a:solidFill>
                  <a:srgbClr val="FFC000"/>
                </a:solidFill>
                <a:latin typeface="Urbanist"/>
                <a:ea typeface="Urbanist"/>
                <a:cs typeface="Urbanist"/>
                <a:sym typeface="Urbanist"/>
              </a:rPr>
              <a:t>Part 2 </a:t>
            </a:r>
          </a:p>
          <a:p>
            <a:r>
              <a:rPr lang="en-US" sz="2800" b="1" dirty="0">
                <a:solidFill>
                  <a:srgbClr val="F2F2F2"/>
                </a:solidFill>
                <a:latin typeface="Urbanist"/>
                <a:ea typeface="Urbanist"/>
                <a:cs typeface="Urbanist"/>
                <a:sym typeface="Urbanist"/>
              </a:rPr>
              <a:t>RAG</a:t>
            </a:r>
            <a:r>
              <a:rPr lang="en-US" sz="2800" b="1" dirty="0">
                <a:solidFill>
                  <a:schemeClr val="bg1">
                    <a:lumMod val="95000"/>
                  </a:schemeClr>
                </a:solidFill>
                <a:latin typeface="Urbanist"/>
                <a:ea typeface="Urbanist"/>
                <a:cs typeface="Urbanist"/>
                <a:sym typeface="Urbanist"/>
              </a:rPr>
              <a:t>:</a:t>
            </a:r>
            <a:endParaRPr lang="en-US" sz="2800" b="1" dirty="0">
              <a:solidFill>
                <a:srgbClr val="FFC000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9" name="Google Shape;127;p15">
            <a:extLst>
              <a:ext uri="{FF2B5EF4-FFF2-40B4-BE49-F238E27FC236}">
                <a16:creationId xmlns:a16="http://schemas.microsoft.com/office/drawing/2014/main" id="{76B6290D-2C74-EA20-AFA5-B88BEEDF5349}"/>
              </a:ext>
            </a:extLst>
          </p:cNvPr>
          <p:cNvSpPr/>
          <p:nvPr/>
        </p:nvSpPr>
        <p:spPr>
          <a:xfrm>
            <a:off x="362845" y="238941"/>
            <a:ext cx="57150" cy="504825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" name="Google Shape;88;p13">
            <a:extLst>
              <a:ext uri="{FF2B5EF4-FFF2-40B4-BE49-F238E27FC236}">
                <a16:creationId xmlns:a16="http://schemas.microsoft.com/office/drawing/2014/main" id="{6999A22B-B402-11BB-6AEA-3D6C0E9D9E5E}"/>
              </a:ext>
            </a:extLst>
          </p:cNvPr>
          <p:cNvSpPr txBox="1"/>
          <p:nvPr/>
        </p:nvSpPr>
        <p:spPr>
          <a:xfrm>
            <a:off x="473245" y="1987276"/>
            <a:ext cx="5622755" cy="30469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r>
              <a:rPr lang="en-US" sz="1800" dirty="0">
                <a:solidFill>
                  <a:srgbClr val="F2F2F2"/>
                </a:solidFill>
              </a:rPr>
              <a:t>Providing the model with external data to ensure       </a:t>
            </a:r>
          </a:p>
          <a:p>
            <a:r>
              <a:rPr lang="en-US" sz="1800" dirty="0">
                <a:solidFill>
                  <a:srgbClr val="F2F2F2"/>
                </a:solidFill>
              </a:rPr>
              <a:t>factual accuracy.</a:t>
            </a:r>
          </a:p>
          <a:p>
            <a:endParaRPr lang="en-US" sz="1800" dirty="0">
              <a:solidFill>
                <a:srgbClr val="FFC000"/>
              </a:solidFill>
            </a:endParaRPr>
          </a:p>
          <a:p>
            <a:pPr marL="285750" indent="-285750">
              <a:buClr>
                <a:srgbClr val="FFC000"/>
              </a:buClr>
              <a:buFont typeface="Wingdings" panose="05000000000000000000" pitchFamily="2" charset="2"/>
              <a:buChar char="Ø"/>
            </a:pPr>
            <a:r>
              <a:rPr lang="en-US" sz="1800" b="1" dirty="0">
                <a:solidFill>
                  <a:srgbClr val="FFC000"/>
                </a:solidFill>
              </a:rPr>
              <a:t>Context Injection:</a:t>
            </a:r>
            <a:r>
              <a:rPr lang="en-US" sz="1800" dirty="0">
                <a:solidFill>
                  <a:srgbClr val="FFC000"/>
                </a:solidFill>
              </a:rPr>
              <a:t> </a:t>
            </a:r>
            <a:r>
              <a:rPr lang="en-US" sz="1800" dirty="0">
                <a:solidFill>
                  <a:srgbClr val="F2F2F2"/>
                </a:solidFill>
              </a:rPr>
              <a:t>Supplies relevant regulatory text for every query.</a:t>
            </a:r>
          </a:p>
          <a:p>
            <a:pPr marL="285750" indent="-285750">
              <a:buClr>
                <a:srgbClr val="FFC000"/>
              </a:buClr>
              <a:buFont typeface="Wingdings" panose="05000000000000000000" pitchFamily="2" charset="2"/>
              <a:buChar char="Ø"/>
            </a:pPr>
            <a:endParaRPr lang="nn-NO" sz="1800" dirty="0">
              <a:solidFill>
                <a:srgbClr val="FFC000"/>
              </a:solidFill>
            </a:endParaRPr>
          </a:p>
          <a:p>
            <a:pPr marL="285750" indent="-285750">
              <a:buClr>
                <a:srgbClr val="FFC000"/>
              </a:buClr>
              <a:buFont typeface="Wingdings" panose="05000000000000000000" pitchFamily="2" charset="2"/>
              <a:buChar char="Ø"/>
            </a:pPr>
            <a:r>
              <a:rPr lang="en-US" sz="1800" b="1" dirty="0">
                <a:solidFill>
                  <a:srgbClr val="FFC000"/>
                </a:solidFill>
              </a:rPr>
              <a:t>Evidence-Based:</a:t>
            </a:r>
            <a:r>
              <a:rPr lang="en-US" sz="1800" dirty="0">
                <a:solidFill>
                  <a:srgbClr val="FFC000"/>
                </a:solidFill>
              </a:rPr>
              <a:t> </a:t>
            </a:r>
            <a:r>
              <a:rPr lang="en-US" sz="1800" dirty="0">
                <a:solidFill>
                  <a:srgbClr val="F2F2F2"/>
                </a:solidFill>
              </a:rPr>
              <a:t>Grounds all answers in </a:t>
            </a:r>
            <a:r>
              <a:rPr lang="en-US" sz="1800" b="1" dirty="0">
                <a:solidFill>
                  <a:srgbClr val="F2F2F2"/>
                </a:solidFill>
              </a:rPr>
              <a:t>official sources</a:t>
            </a:r>
            <a:r>
              <a:rPr lang="en-US" sz="1800" dirty="0">
                <a:solidFill>
                  <a:srgbClr val="F2F2F2"/>
                </a:solidFill>
              </a:rPr>
              <a:t> (B.O.I) to eliminate hallucinations.</a:t>
            </a:r>
          </a:p>
          <a:p>
            <a:pPr marL="285750" indent="-285750">
              <a:buClr>
                <a:srgbClr val="FFC000"/>
              </a:buClr>
              <a:buFont typeface="Wingdings" panose="05000000000000000000" pitchFamily="2" charset="2"/>
              <a:buChar char="Ø"/>
            </a:pPr>
            <a:endParaRPr lang="en-US" sz="1800" dirty="0">
              <a:solidFill>
                <a:srgbClr val="FFC000"/>
              </a:solidFill>
            </a:endParaRPr>
          </a:p>
          <a:p>
            <a:pPr marL="285750" indent="-285750">
              <a:buClr>
                <a:srgbClr val="FFC000"/>
              </a:buClr>
              <a:buFont typeface="Wingdings" panose="05000000000000000000" pitchFamily="2" charset="2"/>
              <a:buChar char="Ø"/>
            </a:pPr>
            <a:r>
              <a:rPr lang="en-US" sz="1800" b="1" dirty="0">
                <a:solidFill>
                  <a:srgbClr val="FFC000"/>
                </a:solidFill>
              </a:rPr>
              <a:t>Dynamic Knowledge: </a:t>
            </a:r>
            <a:r>
              <a:rPr lang="en-US" sz="1800" dirty="0">
                <a:solidFill>
                  <a:srgbClr val="F2F2F2"/>
                </a:solidFill>
              </a:rPr>
              <a:t>Accesses the latest documents without the need for retraining.</a:t>
            </a:r>
          </a:p>
        </p:txBody>
      </p:sp>
      <p:sp>
        <p:nvSpPr>
          <p:cNvPr id="15" name="Google Shape;127;p15">
            <a:extLst>
              <a:ext uri="{FF2B5EF4-FFF2-40B4-BE49-F238E27FC236}">
                <a16:creationId xmlns:a16="http://schemas.microsoft.com/office/drawing/2014/main" id="{A0AC6841-0F81-F4E6-A25B-684A34C6F1B7}"/>
              </a:ext>
            </a:extLst>
          </p:cNvPr>
          <p:cNvSpPr/>
          <p:nvPr/>
        </p:nvSpPr>
        <p:spPr>
          <a:xfrm flipH="1">
            <a:off x="6179642" y="1871427"/>
            <a:ext cx="45719" cy="3273704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" name="Google Shape;88;p13">
            <a:extLst>
              <a:ext uri="{FF2B5EF4-FFF2-40B4-BE49-F238E27FC236}">
                <a16:creationId xmlns:a16="http://schemas.microsoft.com/office/drawing/2014/main" id="{2FCD1781-38C1-A6EC-216F-40017A062752}"/>
              </a:ext>
            </a:extLst>
          </p:cNvPr>
          <p:cNvSpPr txBox="1"/>
          <p:nvPr/>
        </p:nvSpPr>
        <p:spPr>
          <a:xfrm>
            <a:off x="6438675" y="1693456"/>
            <a:ext cx="5622755" cy="27699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endParaRPr lang="en-US" sz="1800" dirty="0">
              <a:solidFill>
                <a:srgbClr val="FFC000"/>
              </a:solidFill>
            </a:endParaRPr>
          </a:p>
          <a:p>
            <a:pPr marL="285750" indent="-285750">
              <a:buClr>
                <a:srgbClr val="FFC000"/>
              </a:buClr>
              <a:buFont typeface="Wingdings" panose="05000000000000000000" pitchFamily="2" charset="2"/>
              <a:buChar char="Ø"/>
            </a:pPr>
            <a:r>
              <a:rPr lang="en-US" sz="1800" b="1" dirty="0">
                <a:solidFill>
                  <a:srgbClr val="FFC000"/>
                </a:solidFill>
              </a:rPr>
              <a:t>Vector Database:</a:t>
            </a:r>
            <a:r>
              <a:rPr lang="en-US" sz="1800" dirty="0">
                <a:solidFill>
                  <a:srgbClr val="FFC000"/>
                </a:solidFill>
              </a:rPr>
              <a:t> </a:t>
            </a:r>
            <a:r>
              <a:rPr lang="en-US" sz="1800" dirty="0">
                <a:solidFill>
                  <a:srgbClr val="F2F2F2"/>
                </a:solidFill>
              </a:rPr>
              <a:t>Engineered a vector database using </a:t>
            </a:r>
            <a:r>
              <a:rPr lang="en-US" sz="1800" b="1" dirty="0">
                <a:solidFill>
                  <a:srgbClr val="F2F2F2"/>
                </a:solidFill>
              </a:rPr>
              <a:t>ChromaDB</a:t>
            </a:r>
            <a:r>
              <a:rPr lang="en-US" sz="1800" dirty="0">
                <a:solidFill>
                  <a:srgbClr val="F2F2F2"/>
                </a:solidFill>
              </a:rPr>
              <a:t>, consisting of </a:t>
            </a:r>
            <a:r>
              <a:rPr lang="en-US" sz="1800" b="1" dirty="0">
                <a:solidFill>
                  <a:srgbClr val="F2F2F2"/>
                </a:solidFill>
              </a:rPr>
              <a:t>518 text chunks</a:t>
            </a:r>
            <a:r>
              <a:rPr lang="en-US" sz="1800" dirty="0">
                <a:solidFill>
                  <a:srgbClr val="F2F2F2"/>
                </a:solidFill>
              </a:rPr>
              <a:t> extracted from official regulations.</a:t>
            </a:r>
          </a:p>
          <a:p>
            <a:pPr marL="285750" indent="-285750">
              <a:buClr>
                <a:srgbClr val="FFC000"/>
              </a:buClr>
              <a:buFont typeface="Wingdings" panose="05000000000000000000" pitchFamily="2" charset="2"/>
              <a:buChar char="Ø"/>
            </a:pPr>
            <a:endParaRPr lang="en-US" sz="1800" dirty="0">
              <a:solidFill>
                <a:srgbClr val="F2F2F2"/>
              </a:solidFill>
            </a:endParaRPr>
          </a:p>
          <a:p>
            <a:pPr marL="285750" indent="-285750">
              <a:buClr>
                <a:srgbClr val="FFC000"/>
              </a:buClr>
              <a:buFont typeface="Wingdings" panose="05000000000000000000" pitchFamily="2" charset="2"/>
              <a:buChar char="Ø"/>
            </a:pPr>
            <a:r>
              <a:rPr lang="en-US" sz="1800" b="1" dirty="0">
                <a:solidFill>
                  <a:srgbClr val="FFC000"/>
                </a:solidFill>
              </a:rPr>
              <a:t>Embedding Model: </a:t>
            </a:r>
            <a:r>
              <a:rPr lang="en-US" sz="1800" dirty="0">
                <a:solidFill>
                  <a:srgbClr val="F2F2F2"/>
                </a:solidFill>
              </a:rPr>
              <a:t>Compared </a:t>
            </a:r>
            <a:r>
              <a:rPr lang="en-US" sz="1800" b="1" dirty="0">
                <a:solidFill>
                  <a:srgbClr val="F2F2F2"/>
                </a:solidFill>
              </a:rPr>
              <a:t>all-MiniLM</a:t>
            </a:r>
            <a:r>
              <a:rPr lang="en-US" sz="1800" dirty="0">
                <a:solidFill>
                  <a:srgbClr val="F2F2F2"/>
                </a:solidFill>
              </a:rPr>
              <a:t> and </a:t>
            </a:r>
            <a:r>
              <a:rPr lang="en-US" sz="1800" b="1" dirty="0">
                <a:solidFill>
                  <a:srgbClr val="F2F2F2"/>
                </a:solidFill>
              </a:rPr>
              <a:t>LegalBERT</a:t>
            </a:r>
            <a:r>
              <a:rPr lang="en-US" sz="1800" dirty="0">
                <a:solidFill>
                  <a:srgbClr val="F2F2F2"/>
                </a:solidFill>
              </a:rPr>
              <a:t> to determine the most effective embedding model for banking and legal terminology.</a:t>
            </a:r>
          </a:p>
          <a:p>
            <a:pPr>
              <a:buClr>
                <a:srgbClr val="FFC000"/>
              </a:buClr>
            </a:pPr>
            <a:endParaRPr lang="nn-NO" sz="1800" dirty="0">
              <a:solidFill>
                <a:srgbClr val="F2F2F2"/>
              </a:solidFill>
            </a:endParaRPr>
          </a:p>
          <a:p>
            <a:pPr marL="285750" indent="-285750">
              <a:buClr>
                <a:srgbClr val="FFC000"/>
              </a:buClr>
              <a:buFont typeface="Wingdings" panose="05000000000000000000" pitchFamily="2" charset="2"/>
              <a:buChar char="Ø"/>
            </a:pPr>
            <a:r>
              <a:rPr lang="en-US" sz="1800" b="1" dirty="0">
                <a:solidFill>
                  <a:srgbClr val="FFC000"/>
                </a:solidFill>
              </a:rPr>
              <a:t>Retrieval Evaluation:</a:t>
            </a:r>
            <a:r>
              <a:rPr lang="en-US" sz="1800" dirty="0">
                <a:solidFill>
                  <a:srgbClr val="FFC000"/>
                </a:solidFill>
              </a:rPr>
              <a:t> </a:t>
            </a:r>
            <a:r>
              <a:rPr lang="en-US" sz="1800" dirty="0">
                <a:solidFill>
                  <a:srgbClr val="F2F2F2"/>
                </a:solidFill>
              </a:rPr>
              <a:t>Measured </a:t>
            </a:r>
            <a:r>
              <a:rPr lang="en-US" sz="1800" b="1" dirty="0" err="1">
                <a:solidFill>
                  <a:schemeClr val="bg1">
                    <a:lumMod val="95000"/>
                  </a:schemeClr>
                </a:solidFill>
              </a:rPr>
              <a:t>Hit@K</a:t>
            </a:r>
            <a:r>
              <a:rPr lang="en-US" sz="1800" b="1" dirty="0">
                <a:solidFill>
                  <a:srgbClr val="F2F2F2"/>
                </a:solidFill>
              </a:rPr>
              <a:t> (HitRate)</a:t>
            </a:r>
            <a:endParaRPr lang="en-US" sz="1800" dirty="0">
              <a:solidFill>
                <a:srgbClr val="F2F2F2"/>
              </a:solidFill>
            </a:endParaRPr>
          </a:p>
        </p:txBody>
      </p:sp>
      <p:pic>
        <p:nvPicPr>
          <p:cNvPr id="23" name="תמונה 22" descr="תמונה שמכילה טקסט, צילום מסך, גופן&#10;&#10;תוכן בינה מלאכותית גנרטיבית עשוי להיות שגוי.">
            <a:extLst>
              <a:ext uri="{FF2B5EF4-FFF2-40B4-BE49-F238E27FC236}">
                <a16:creationId xmlns:a16="http://schemas.microsoft.com/office/drawing/2014/main" id="{708055D3-AF93-5B9E-2AE5-A2144CB4430F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5141"/>
          <a:stretch>
            <a:fillRect/>
          </a:stretch>
        </p:blipFill>
        <p:spPr>
          <a:xfrm>
            <a:off x="7307480" y="4571999"/>
            <a:ext cx="3802401" cy="16474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2779019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3">
          <a:extLst>
            <a:ext uri="{FF2B5EF4-FFF2-40B4-BE49-F238E27FC236}">
              <a16:creationId xmlns:a16="http://schemas.microsoft.com/office/drawing/2014/main" id="{2E8A46CF-A672-E505-2376-275AABB5CF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oogle Shape;123;p15" descr="image.png">
            <a:extLst>
              <a:ext uri="{FF2B5EF4-FFF2-40B4-BE49-F238E27FC236}">
                <a16:creationId xmlns:a16="http://schemas.microsoft.com/office/drawing/2014/main" id="{896705B1-AC28-F9CF-A026-B8B4037CBE78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86" name="Google Shape;86;p13">
            <a:extLst>
              <a:ext uri="{FF2B5EF4-FFF2-40B4-BE49-F238E27FC236}">
                <a16:creationId xmlns:a16="http://schemas.microsoft.com/office/drawing/2014/main" id="{B90EBA20-4154-AB19-43FD-7AC4F4EC3E4B}"/>
              </a:ext>
            </a:extLst>
          </p:cNvPr>
          <p:cNvSpPr txBox="1"/>
          <p:nvPr/>
        </p:nvSpPr>
        <p:spPr>
          <a:xfrm>
            <a:off x="480436" y="244659"/>
            <a:ext cx="1966162" cy="5078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b="1" i="0" u="none" strike="noStrike" cap="none" dirty="0">
                <a:solidFill>
                  <a:srgbClr val="F9FAFB"/>
                </a:solidFill>
                <a:latin typeface="Urbanist"/>
                <a:ea typeface="Urbanist"/>
                <a:cs typeface="Urbanist"/>
                <a:sym typeface="Urbanist"/>
              </a:rPr>
              <a:t>RESULTS </a:t>
            </a:r>
          </a:p>
        </p:txBody>
      </p:sp>
      <p:sp>
        <p:nvSpPr>
          <p:cNvPr id="2" name="Google Shape;127;p15">
            <a:extLst>
              <a:ext uri="{FF2B5EF4-FFF2-40B4-BE49-F238E27FC236}">
                <a16:creationId xmlns:a16="http://schemas.microsoft.com/office/drawing/2014/main" id="{BD1103EA-58B3-BD26-8142-5AB3E21742AE}"/>
              </a:ext>
            </a:extLst>
          </p:cNvPr>
          <p:cNvSpPr/>
          <p:nvPr/>
        </p:nvSpPr>
        <p:spPr>
          <a:xfrm>
            <a:off x="353255" y="244659"/>
            <a:ext cx="57150" cy="504825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71716212-072A-8CCC-4D7D-67649E7E2B7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8681" y="1676817"/>
            <a:ext cx="5553763" cy="3321486"/>
          </a:xfrm>
          <a:prstGeom prst="rect">
            <a:avLst/>
          </a:prstGeom>
          <a:effectLst>
            <a:softEdge rad="63500"/>
          </a:effectLst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D20224DC-FEAE-7B9A-3117-702A1C2561EA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6533195" y="433036"/>
            <a:ext cx="4814460" cy="2808435"/>
          </a:xfrm>
          <a:prstGeom prst="rect">
            <a:avLst/>
          </a:prstGeom>
          <a:effectLst>
            <a:softEdge rad="50800"/>
          </a:effectLst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82504B60-E309-1D67-ED79-AA7464F73F01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6533195" y="3418965"/>
            <a:ext cx="4814460" cy="2808435"/>
          </a:xfrm>
          <a:prstGeom prst="rect">
            <a:avLst/>
          </a:prstGeom>
          <a:effectLst>
            <a:softEdge rad="50800"/>
          </a:effectLst>
        </p:spPr>
      </p:pic>
    </p:spTree>
    <p:extLst>
      <p:ext uri="{BB962C8B-B14F-4D97-AF65-F5344CB8AC3E}">
        <p14:creationId xmlns:p14="http://schemas.microsoft.com/office/powerpoint/2010/main" val="266734573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2">
          <a:extLst>
            <a:ext uri="{FF2B5EF4-FFF2-40B4-BE49-F238E27FC236}">
              <a16:creationId xmlns:a16="http://schemas.microsoft.com/office/drawing/2014/main" id="{22E84E0D-5883-201E-F623-319B3EE0E2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3" name="Google Shape;123;p15" descr="image.png">
            <a:extLst>
              <a:ext uri="{FF2B5EF4-FFF2-40B4-BE49-F238E27FC236}">
                <a16:creationId xmlns:a16="http://schemas.microsoft.com/office/drawing/2014/main" id="{86D09913-DD2F-0AB0-1D0D-4D2A0961F1B6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7" name="Google Shape;86;p13">
            <a:extLst>
              <a:ext uri="{FF2B5EF4-FFF2-40B4-BE49-F238E27FC236}">
                <a16:creationId xmlns:a16="http://schemas.microsoft.com/office/drawing/2014/main" id="{A5BAD159-A290-DF82-EEA3-3C3C65E87330}"/>
              </a:ext>
            </a:extLst>
          </p:cNvPr>
          <p:cNvSpPr txBox="1"/>
          <p:nvPr/>
        </p:nvSpPr>
        <p:spPr>
          <a:xfrm>
            <a:off x="474411" y="245556"/>
            <a:ext cx="2925823" cy="5078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/>
            <a:r>
              <a:rPr lang="en-US" sz="3300" b="1" dirty="0">
                <a:solidFill>
                  <a:schemeClr val="bg1"/>
                </a:solidFill>
              </a:rPr>
              <a:t>CONCLUSION</a:t>
            </a:r>
            <a:endParaRPr lang="en-US" sz="3300" b="1" i="0" u="none" strike="noStrike" cap="none" dirty="0">
              <a:solidFill>
                <a:schemeClr val="bg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8" name="Google Shape;88;p13">
            <a:extLst>
              <a:ext uri="{FF2B5EF4-FFF2-40B4-BE49-F238E27FC236}">
                <a16:creationId xmlns:a16="http://schemas.microsoft.com/office/drawing/2014/main" id="{02E29998-45C5-4E1E-453F-38C00F17E41B}"/>
              </a:ext>
            </a:extLst>
          </p:cNvPr>
          <p:cNvSpPr txBox="1"/>
          <p:nvPr/>
        </p:nvSpPr>
        <p:spPr>
          <a:xfrm>
            <a:off x="518186" y="2819997"/>
            <a:ext cx="8390644" cy="4308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r>
              <a:rPr lang="en-US" sz="2800" b="1" dirty="0">
                <a:solidFill>
                  <a:srgbClr val="FFC000"/>
                </a:solidFill>
              </a:rPr>
              <a:t>Things We (Painfully) Learned:</a:t>
            </a:r>
            <a:endParaRPr lang="en-US" sz="2800" b="1" dirty="0">
              <a:solidFill>
                <a:srgbClr val="FFC000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9" name="Google Shape;127;p15">
            <a:extLst>
              <a:ext uri="{FF2B5EF4-FFF2-40B4-BE49-F238E27FC236}">
                <a16:creationId xmlns:a16="http://schemas.microsoft.com/office/drawing/2014/main" id="{7DE61AA3-BDFB-53E7-8AEE-E924F9E2A63B}"/>
              </a:ext>
            </a:extLst>
          </p:cNvPr>
          <p:cNvSpPr/>
          <p:nvPr/>
        </p:nvSpPr>
        <p:spPr>
          <a:xfrm>
            <a:off x="362845" y="238941"/>
            <a:ext cx="57150" cy="504825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" name="Google Shape;88;p13">
            <a:extLst>
              <a:ext uri="{FF2B5EF4-FFF2-40B4-BE49-F238E27FC236}">
                <a16:creationId xmlns:a16="http://schemas.microsoft.com/office/drawing/2014/main" id="{7C2C1466-1FB2-0FE8-5D35-72ED36D33363}"/>
              </a:ext>
            </a:extLst>
          </p:cNvPr>
          <p:cNvSpPr txBox="1"/>
          <p:nvPr/>
        </p:nvSpPr>
        <p:spPr>
          <a:xfrm>
            <a:off x="518186" y="1402671"/>
            <a:ext cx="10290836" cy="12464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285750" indent="-285750">
              <a:lnSpc>
                <a:spcPct val="150000"/>
              </a:lnSpc>
              <a:buClr>
                <a:srgbClr val="FFC000"/>
              </a:buClr>
              <a:buFont typeface="Wingdings" panose="05000000000000000000" pitchFamily="2" charset="2"/>
              <a:buChar char="Ø"/>
            </a:pPr>
            <a:r>
              <a:rPr lang="en-US" sz="1800" dirty="0">
                <a:solidFill>
                  <a:schemeClr val="bg1">
                    <a:lumMod val="95000"/>
                  </a:schemeClr>
                </a:solidFill>
              </a:rPr>
              <a:t>Minor hallucinations are still present.</a:t>
            </a:r>
            <a:endParaRPr lang="nn-NO" sz="1800" dirty="0">
              <a:solidFill>
                <a:schemeClr val="bg1">
                  <a:lumMod val="95000"/>
                </a:schemeClr>
              </a:solidFill>
            </a:endParaRPr>
          </a:p>
          <a:p>
            <a:pPr marL="285750" indent="-285750">
              <a:lnSpc>
                <a:spcPct val="150000"/>
              </a:lnSpc>
              <a:buClr>
                <a:srgbClr val="FFC000"/>
              </a:buClr>
              <a:buFont typeface="Wingdings" panose="05000000000000000000" pitchFamily="2" charset="2"/>
              <a:buChar char="Ø"/>
            </a:pPr>
            <a:r>
              <a:rPr lang="en-US" sz="1800" dirty="0">
                <a:solidFill>
                  <a:schemeClr val="bg1">
                    <a:lumMod val="95000"/>
                  </a:schemeClr>
                </a:solidFill>
              </a:rPr>
              <a:t>The model identifies the correct chunk in most cases, but consistency is not guaranteed.</a:t>
            </a:r>
          </a:p>
          <a:p>
            <a:pPr marL="285750" indent="-285750">
              <a:lnSpc>
                <a:spcPct val="150000"/>
              </a:lnSpc>
              <a:buClr>
                <a:srgbClr val="FFC000"/>
              </a:buClr>
              <a:buFont typeface="Wingdings" panose="05000000000000000000" pitchFamily="2" charset="2"/>
              <a:buChar char="Ø"/>
            </a:pPr>
            <a:r>
              <a:rPr lang="en-US" sz="1800" dirty="0">
                <a:solidFill>
                  <a:schemeClr val="bg1">
                    <a:lumMod val="95000"/>
                  </a:schemeClr>
                </a:solidFill>
              </a:rPr>
              <a:t>In a high-stakes domain like this, even small errors are unacceptable.</a:t>
            </a:r>
          </a:p>
        </p:txBody>
      </p:sp>
      <p:sp>
        <p:nvSpPr>
          <p:cNvPr id="2" name="Google Shape;88;p13">
            <a:extLst>
              <a:ext uri="{FF2B5EF4-FFF2-40B4-BE49-F238E27FC236}">
                <a16:creationId xmlns:a16="http://schemas.microsoft.com/office/drawing/2014/main" id="{68F5B512-688F-EB69-6D20-66CF92AF704D}"/>
              </a:ext>
            </a:extLst>
          </p:cNvPr>
          <p:cNvSpPr txBox="1"/>
          <p:nvPr/>
        </p:nvSpPr>
        <p:spPr>
          <a:xfrm>
            <a:off x="518186" y="998943"/>
            <a:ext cx="8390644" cy="4308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r>
              <a:rPr lang="en-US" sz="2800" b="1" dirty="0">
                <a:solidFill>
                  <a:srgbClr val="FFC000"/>
                </a:solidFill>
              </a:rPr>
              <a:t>Looks Good… But Can Be Better:</a:t>
            </a:r>
            <a:endParaRPr lang="en-US" sz="2800" b="1" dirty="0">
              <a:solidFill>
                <a:srgbClr val="FFC000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4" name="Google Shape;88;p13">
            <a:extLst>
              <a:ext uri="{FF2B5EF4-FFF2-40B4-BE49-F238E27FC236}">
                <a16:creationId xmlns:a16="http://schemas.microsoft.com/office/drawing/2014/main" id="{7A731623-AF71-D9C4-3F4F-D36B48E9C774}"/>
              </a:ext>
            </a:extLst>
          </p:cNvPr>
          <p:cNvSpPr txBox="1"/>
          <p:nvPr/>
        </p:nvSpPr>
        <p:spPr>
          <a:xfrm>
            <a:off x="518186" y="3256052"/>
            <a:ext cx="10290836" cy="12464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285750" indent="-285750">
              <a:lnSpc>
                <a:spcPct val="150000"/>
              </a:lnSpc>
              <a:buClr>
                <a:srgbClr val="FFC000"/>
              </a:buClr>
              <a:buFont typeface="Wingdings" panose="05000000000000000000" pitchFamily="2" charset="2"/>
              <a:buChar char="Ø"/>
            </a:pPr>
            <a:r>
              <a:rPr lang="en-US" sz="1800" dirty="0">
                <a:solidFill>
                  <a:schemeClr val="bg1">
                    <a:lumMod val="95000"/>
                  </a:schemeClr>
                </a:solidFill>
              </a:rPr>
              <a:t>Each model comes with its own pros and cons.</a:t>
            </a:r>
            <a:endParaRPr lang="nn-NO" sz="1800" dirty="0">
              <a:solidFill>
                <a:schemeClr val="bg1">
                  <a:lumMod val="95000"/>
                </a:schemeClr>
              </a:solidFill>
            </a:endParaRPr>
          </a:p>
          <a:p>
            <a:pPr marL="285750" indent="-285750">
              <a:lnSpc>
                <a:spcPct val="150000"/>
              </a:lnSpc>
              <a:buClr>
                <a:srgbClr val="FFC000"/>
              </a:buClr>
              <a:buFont typeface="Wingdings" panose="05000000000000000000" pitchFamily="2" charset="2"/>
              <a:buChar char="Ø"/>
            </a:pPr>
            <a:r>
              <a:rPr lang="en-US" sz="1800" dirty="0">
                <a:solidFill>
                  <a:schemeClr val="bg1">
                    <a:lumMod val="95000"/>
                  </a:schemeClr>
                </a:solidFill>
              </a:rPr>
              <a:t>Hallucination handling needs to be significantly stricter.</a:t>
            </a:r>
          </a:p>
          <a:p>
            <a:pPr marL="285750" indent="-285750">
              <a:lnSpc>
                <a:spcPct val="150000"/>
              </a:lnSpc>
              <a:buClr>
                <a:srgbClr val="FFC000"/>
              </a:buClr>
              <a:buFont typeface="Wingdings" panose="05000000000000000000" pitchFamily="2" charset="2"/>
              <a:buChar char="Ø"/>
            </a:pPr>
            <a:r>
              <a:rPr lang="en-US" sz="1800" dirty="0">
                <a:solidFill>
                  <a:schemeClr val="bg1">
                    <a:lumMod val="95000"/>
                  </a:schemeClr>
                </a:solidFill>
              </a:rPr>
              <a:t>A diverse set of KPIs is needed to properly evaluate model quality.</a:t>
            </a:r>
          </a:p>
        </p:txBody>
      </p:sp>
      <p:sp>
        <p:nvSpPr>
          <p:cNvPr id="5" name="Google Shape;88;p13">
            <a:extLst>
              <a:ext uri="{FF2B5EF4-FFF2-40B4-BE49-F238E27FC236}">
                <a16:creationId xmlns:a16="http://schemas.microsoft.com/office/drawing/2014/main" id="{EE9F0940-BEB7-7F69-4337-5B01468429BD}"/>
              </a:ext>
            </a:extLst>
          </p:cNvPr>
          <p:cNvSpPr txBox="1"/>
          <p:nvPr/>
        </p:nvSpPr>
        <p:spPr>
          <a:xfrm>
            <a:off x="518186" y="4673378"/>
            <a:ext cx="8390644" cy="4308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r>
              <a:rPr lang="en-US" sz="2800" b="1" dirty="0">
                <a:solidFill>
                  <a:srgbClr val="FFC000"/>
                </a:solidFill>
              </a:rPr>
              <a:t>Where Do We Go From Here?</a:t>
            </a:r>
            <a:endParaRPr lang="en-US" sz="2800" b="1" dirty="0">
              <a:solidFill>
                <a:srgbClr val="FFC000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6" name="Google Shape;88;p13">
            <a:extLst>
              <a:ext uri="{FF2B5EF4-FFF2-40B4-BE49-F238E27FC236}">
                <a16:creationId xmlns:a16="http://schemas.microsoft.com/office/drawing/2014/main" id="{F7AA6849-9885-F48C-208C-4D449D98E7BA}"/>
              </a:ext>
            </a:extLst>
          </p:cNvPr>
          <p:cNvSpPr txBox="1"/>
          <p:nvPr/>
        </p:nvSpPr>
        <p:spPr>
          <a:xfrm>
            <a:off x="518186" y="5104265"/>
            <a:ext cx="10290836" cy="12464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285750" indent="-285750">
              <a:lnSpc>
                <a:spcPct val="150000"/>
              </a:lnSpc>
              <a:buClr>
                <a:srgbClr val="FFC000"/>
              </a:buClr>
              <a:buFont typeface="Wingdings" panose="05000000000000000000" pitchFamily="2" charset="2"/>
              <a:buChar char="Ø"/>
            </a:pPr>
            <a:r>
              <a:rPr lang="en-US" sz="1800" dirty="0">
                <a:solidFill>
                  <a:schemeClr val="bg1">
                    <a:lumMod val="95000"/>
                  </a:schemeClr>
                </a:solidFill>
              </a:rPr>
              <a:t>Experiment with additional models and architectures. </a:t>
            </a:r>
          </a:p>
          <a:p>
            <a:pPr marL="285750" indent="-285750">
              <a:lnSpc>
                <a:spcPct val="150000"/>
              </a:lnSpc>
              <a:buClr>
                <a:srgbClr val="FFC000"/>
              </a:buClr>
              <a:buFont typeface="Wingdings" panose="05000000000000000000" pitchFamily="2" charset="2"/>
              <a:buChar char="Ø"/>
            </a:pPr>
            <a:r>
              <a:rPr lang="en-US" sz="1800" dirty="0">
                <a:solidFill>
                  <a:schemeClr val="bg1">
                    <a:lumMod val="95000"/>
                  </a:schemeClr>
                </a:solidFill>
              </a:rPr>
              <a:t>Introduce more rigorous validation and consistency checks in the RAG pipeline.</a:t>
            </a:r>
          </a:p>
          <a:p>
            <a:pPr marL="285750" indent="-285750">
              <a:lnSpc>
                <a:spcPct val="150000"/>
              </a:lnSpc>
              <a:buClr>
                <a:srgbClr val="FFC000"/>
              </a:buClr>
              <a:buFont typeface="Wingdings" panose="05000000000000000000" pitchFamily="2" charset="2"/>
              <a:buChar char="Ø"/>
            </a:pPr>
            <a:r>
              <a:rPr lang="en-US" sz="1800" dirty="0">
                <a:solidFill>
                  <a:schemeClr val="bg1">
                    <a:lumMod val="95000"/>
                  </a:schemeClr>
                </a:solidFill>
              </a:rPr>
              <a:t>Add a faithfulness metric using an LLM judge to verify citation-explanation alignment. </a:t>
            </a:r>
          </a:p>
        </p:txBody>
      </p:sp>
    </p:spTree>
    <p:extLst>
      <p:ext uri="{BB962C8B-B14F-4D97-AF65-F5344CB8AC3E}">
        <p14:creationId xmlns:p14="http://schemas.microsoft.com/office/powerpoint/2010/main" val="260058239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737</TotalTime>
  <Words>623</Words>
  <Application>Microsoft Office PowerPoint</Application>
  <PresentationFormat>Widescreen</PresentationFormat>
  <Paragraphs>104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8" baseType="lpstr">
      <vt:lpstr>Arial</vt:lpstr>
      <vt:lpstr>Calibri</vt:lpstr>
      <vt:lpstr>Wingdings</vt:lpstr>
      <vt:lpstr>Inter</vt:lpstr>
      <vt:lpstr>Urbanist</vt:lpstr>
      <vt:lpstr>Inter SemiBold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Michael Naftalishen</cp:lastModifiedBy>
  <cp:revision>78</cp:revision>
  <dcterms:modified xsi:type="dcterms:W3CDTF">2026-02-03T19:38:32Z</dcterms:modified>
</cp:coreProperties>
</file>