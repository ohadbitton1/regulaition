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67" r:id="rId2"/>
    <p:sldId id="256" r:id="rId3"/>
    <p:sldId id="257" r:id="rId4"/>
    <p:sldId id="258" r:id="rId5"/>
    <p:sldId id="262" r:id="rId6"/>
    <p:sldId id="265" r:id="rId7"/>
    <p:sldId id="261" r:id="rId8"/>
    <p:sldId id="266" r:id="rId9"/>
    <p:sldId id="260" r:id="rId10"/>
  </p:sldIdLst>
  <p:sldSz cx="12192000" cy="6858000"/>
  <p:notesSz cx="6858000" cy="9144000"/>
  <p:embeddedFontLst>
    <p:embeddedFont>
      <p:font typeface="Inter" panose="020B0604020202020204" charset="0"/>
      <p:regular r:id="rId12"/>
      <p:bold r:id="rId13"/>
      <p:italic r:id="rId14"/>
      <p:boldItalic r:id="rId15"/>
    </p:embeddedFont>
    <p:embeddedFont>
      <p:font typeface="Inter SemiBold" panose="020B0604020202020204" charset="0"/>
      <p:regular r:id="rId16"/>
      <p:bold r:id="rId17"/>
      <p:italic r:id="rId18"/>
      <p:boldItalic r:id="rId19"/>
    </p:embeddedFont>
    <p:embeddedFont>
      <p:font typeface="Urbanist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D64E65-FE31-4644-8823-DAFD86DB174A}">
  <a:tblStyle styleId="{4ED64E65-FE31-4644-8823-DAFD86DB174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9084205C-3E22-B54C-96B3-DF28C8D8C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1050EB1E-2A3B-64B4-591B-EF52066A0B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61B75D58-FB54-3ECE-8EA5-3F2A10B56C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73759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5347812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E79237C5-819E-7842-1C09-BF859C51E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770836B9-24C9-29C1-DD21-4DE20AE88C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42F0A53F-6A81-6D4A-F7D0-DE8C44D4DD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513180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5347812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0" name="Google Shape;1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2E8A46CF-A672-E505-2376-275AABB5C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descr="image.png">
            <a:extLst>
              <a:ext uri="{FF2B5EF4-FFF2-40B4-BE49-F238E27FC236}">
                <a16:creationId xmlns:a16="http://schemas.microsoft.com/office/drawing/2014/main" id="{8C2C4301-F517-0A37-1AEB-32C767BB0F4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7651"/>
          <a:stretch>
            <a:fillRect/>
          </a:stretch>
        </p:blipFill>
        <p:spPr>
          <a:xfrm>
            <a:off x="9610404" y="0"/>
            <a:ext cx="25815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>
            <a:extLst>
              <a:ext uri="{FF2B5EF4-FFF2-40B4-BE49-F238E27FC236}">
                <a16:creationId xmlns:a16="http://schemas.microsoft.com/office/drawing/2014/main" id="{B90EBA20-4154-AB19-43FD-7AC4F4EC3E4B}"/>
              </a:ext>
            </a:extLst>
          </p:cNvPr>
          <p:cNvSpPr txBox="1"/>
          <p:nvPr/>
        </p:nvSpPr>
        <p:spPr>
          <a:xfrm>
            <a:off x="756709" y="553914"/>
            <a:ext cx="7092402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REGUL</a:t>
            </a:r>
            <a:r>
              <a:rPr lang="en-US" sz="3300" b="1" i="0" u="none" strike="noStrike" cap="none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AI</a:t>
            </a:r>
            <a:r>
              <a:rPr lang="en-US" sz="3300" b="1" i="0" u="none" strike="noStrike" cap="none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LTION </a:t>
            </a:r>
          </a:p>
        </p:txBody>
      </p:sp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4CBF196F-D9F1-1FB9-238B-77B06F5B39B3}"/>
              </a:ext>
            </a:extLst>
          </p:cNvPr>
          <p:cNvSpPr txBox="1"/>
          <p:nvPr/>
        </p:nvSpPr>
        <p:spPr>
          <a:xfrm>
            <a:off x="756708" y="1459230"/>
            <a:ext cx="8368881" cy="3570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PROJECT REVIEW:</a:t>
            </a:r>
            <a:endParaRPr lang="en-US" sz="2800" dirty="0">
              <a:solidFill>
                <a:srgbClr val="FFC000"/>
              </a:solidFill>
            </a:endParaRPr>
          </a:p>
          <a:p>
            <a:endParaRPr lang="en-US" sz="1800" dirty="0">
              <a:solidFill>
                <a:srgbClr val="D1D5DB"/>
              </a:solidFill>
              <a:latin typeface="Inter"/>
              <a:ea typeface="Inter"/>
              <a:cs typeface="Inter"/>
              <a:sym typeface="Inter"/>
            </a:endParaRPr>
          </a:p>
          <a:p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Navigating complex regulations is time-consuming and manual. We’re building an </a:t>
            </a:r>
            <a:r>
              <a:rPr lang="en-US" sz="1800" b="1" dirty="0">
                <a:solidFill>
                  <a:schemeClr val="bg1">
                    <a:lumMod val="75000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intelligent model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that unifies banking regulations into a single, automated source.</a:t>
            </a:r>
          </a:p>
          <a:p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lvl="0"/>
            <a:r>
              <a:rPr lang="en-US" sz="24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Models:</a:t>
            </a:r>
          </a:p>
          <a:p>
            <a:pPr lvl="0"/>
            <a:endParaRPr lang="en-US" sz="1800" dirty="0">
              <a:solidFill>
                <a:srgbClr val="D1D5D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SaulLM:</a:t>
            </a:r>
            <a:r>
              <a:rPr lang="en-US" sz="1800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Large language model tailored for the legal domain.</a:t>
            </a:r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Llama:</a:t>
            </a:r>
            <a:r>
              <a:rPr lang="en-US" sz="1800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Large language model for general purpose.</a:t>
            </a:r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285750" lvl="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" name="Google Shape;127;p15">
            <a:extLst>
              <a:ext uri="{FF2B5EF4-FFF2-40B4-BE49-F238E27FC236}">
                <a16:creationId xmlns:a16="http://schemas.microsoft.com/office/drawing/2014/main" id="{BD1103EA-58B3-BD26-8142-5AB3E21742AE}"/>
              </a:ext>
            </a:extLst>
          </p:cNvPr>
          <p:cNvSpPr/>
          <p:nvPr/>
        </p:nvSpPr>
        <p:spPr>
          <a:xfrm>
            <a:off x="571500" y="535612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174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 l="57651"/>
          <a:stretch>
            <a:fillRect/>
          </a:stretch>
        </p:blipFill>
        <p:spPr>
          <a:xfrm>
            <a:off x="9610404" y="0"/>
            <a:ext cx="25815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56709" y="553914"/>
            <a:ext cx="7092402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REGUL</a:t>
            </a:r>
            <a:r>
              <a:rPr lang="en-US" sz="3300" b="1" i="0" u="none" strike="noStrike" cap="none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AI</a:t>
            </a:r>
            <a:r>
              <a:rPr lang="en-US" sz="3300" b="1" i="0" u="none" strike="noStrike" cap="none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LTION </a:t>
            </a:r>
          </a:p>
        </p:txBody>
      </p:sp>
      <p:sp>
        <p:nvSpPr>
          <p:cNvPr id="88" name="Google Shape;88;p13"/>
          <p:cNvSpPr txBox="1"/>
          <p:nvPr/>
        </p:nvSpPr>
        <p:spPr>
          <a:xfrm>
            <a:off x="756708" y="1459230"/>
            <a:ext cx="8368881" cy="433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FFC000"/>
              </a:buClr>
            </a:pPr>
            <a:r>
              <a:rPr lang="en-US" sz="2800" b="1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PROJECT REVIEW:</a:t>
            </a:r>
            <a:endParaRPr lang="en-US" sz="2800" dirty="0">
              <a:solidFill>
                <a:srgbClr val="FFC000"/>
              </a:solidFill>
            </a:endParaRPr>
          </a:p>
          <a:p>
            <a:pPr>
              <a:buClr>
                <a:srgbClr val="FFC000"/>
              </a:buClr>
            </a:pPr>
            <a:endParaRPr lang="en-US" sz="1800" dirty="0"/>
          </a:p>
          <a:p>
            <a:pPr lvl="0"/>
            <a:r>
              <a:rPr lang="en-US" sz="24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Data:</a:t>
            </a:r>
          </a:p>
          <a:p>
            <a:pPr lvl="0"/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Synthetic:</a:t>
            </a:r>
            <a:r>
              <a:rPr lang="en-US" sz="1800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Created synthetically based on the regulations.</a:t>
            </a:r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Structure:</a:t>
            </a:r>
            <a:r>
              <a:rPr lang="en-US" sz="1800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Predefined pattern for the data used for training .</a:t>
            </a:r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285750" lvl="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Balance:</a:t>
            </a:r>
            <a:r>
              <a:rPr lang="en-US" sz="1800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Contains clean, soft negative and hard negative data.</a:t>
            </a:r>
          </a:p>
          <a:p>
            <a:pPr marL="285750" lvl="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b="1" dirty="0">
              <a:solidFill>
                <a:srgbClr val="D1D5DB"/>
              </a:solidFill>
              <a:latin typeface="Inter"/>
              <a:ea typeface="Inter"/>
              <a:cs typeface="Inter SemiBold"/>
              <a:sym typeface="Inter"/>
            </a:endParaRPr>
          </a:p>
          <a:p>
            <a:pPr lvl="0"/>
            <a:r>
              <a:rPr lang="en-US" sz="24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Metrics:</a:t>
            </a:r>
          </a:p>
          <a:p>
            <a:pPr lvl="0"/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Semantic score:</a:t>
            </a:r>
            <a:r>
              <a:rPr lang="en-US" sz="1800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A.</a:t>
            </a:r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Stops Fines:</a:t>
            </a:r>
            <a:r>
              <a:rPr lang="en-US" sz="1800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P.</a:t>
            </a:r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285750" lvl="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Transparency:</a:t>
            </a:r>
            <a:r>
              <a:rPr lang="en-US" sz="1800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A.</a:t>
            </a:r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285750" lvl="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" name="Google Shape;127;p15">
            <a:extLst>
              <a:ext uri="{FF2B5EF4-FFF2-40B4-BE49-F238E27FC236}">
                <a16:creationId xmlns:a16="http://schemas.microsoft.com/office/drawing/2014/main" id="{4536C468-5595-7F0C-4820-E3E19813D8EE}"/>
              </a:ext>
            </a:extLst>
          </p:cNvPr>
          <p:cNvSpPr/>
          <p:nvPr/>
        </p:nvSpPr>
        <p:spPr>
          <a:xfrm>
            <a:off x="571500" y="535612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" name="Google Shape;107;p14"/>
          <p:cNvGraphicFramePr/>
          <p:nvPr>
            <p:extLst>
              <p:ext uri="{D42A27DB-BD31-4B8C-83A1-F6EECF244321}">
                <p14:modId xmlns:p14="http://schemas.microsoft.com/office/powerpoint/2010/main" val="2463276589"/>
              </p:ext>
            </p:extLst>
          </p:nvPr>
        </p:nvGraphicFramePr>
        <p:xfrm>
          <a:off x="762000" y="1640090"/>
          <a:ext cx="10953725" cy="3618085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273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445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Article &amp; Year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Task &amp; Methods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Project Relation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445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VeriCite</a:t>
                      </a:r>
                      <a:endParaRPr lang="en-US" sz="2000" b="0" u="none" strike="noStrike" cap="none" dirty="0">
                        <a:solidFill>
                          <a:schemeClr val="tx1"/>
                        </a:solidFill>
                        <a:sym typeface="Inter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Oct 13, 2025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Prevent hallucinations in RAG via multi-stage verification (NLI-based)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Establishes evidence-grounded, explainable QA alignment for auditing needs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445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Intelligent Legal Systems</a:t>
                      </a:r>
                      <a:br>
                        <a:rPr lang="en-US" sz="20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</a:b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Feb 13, 2025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Synthetic data fine-tuning for legal Q&amp;A using Chain-of-Thought prompting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Validated our approach; applied specifically to Israeli banking regulations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445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RAG vs Fine-tuning</a:t>
                      </a:r>
                      <a:br>
                        <a:rPr lang="en-US" sz="18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</a:b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Jan 18, 2024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Case study on Domain-Specific QA comparing RAG, FT, and Hybrid pipelines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Validates our Hybrid architecture; FT for style and RAG for factual precision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7" name="Google Shape;117;p14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STRATEGIC </a:t>
            </a:r>
            <a:r>
              <a:rPr lang="en-US" sz="3300" b="1" i="0" u="none" strike="noStrike" cap="none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LITERATURE REVIEW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DATA </a:t>
            </a:r>
            <a:r>
              <a:rPr lang="en-US" sz="3300" b="1" i="0" u="none" strike="noStrike" cap="none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ARCHITECTURE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762000" y="1647825"/>
            <a:ext cx="6988921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Our custom-built dataset comprises </a:t>
            </a:r>
            <a:r>
              <a:rPr lang="en-US" sz="1800" b="1" i="0" u="none" strike="noStrike" cap="none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six critical dimensions</a:t>
            </a:r>
            <a:r>
              <a:rPr lang="en-US" sz="1800" b="0" i="0" u="none" strike="noStrike" cap="none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to ensure compliance and explainability: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dirty="0">
              <a:solidFill>
                <a:srgbClr val="D1D5DB"/>
              </a:solidFill>
              <a:latin typeface="Inter"/>
              <a:ea typeface="Inter"/>
              <a:sym typeface="Inter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Question:</a:t>
            </a:r>
            <a:r>
              <a:rPr lang="en-US" sz="1800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Natural language banking queries.</a:t>
            </a:r>
            <a:endParaRPr lang="en-US" sz="1800" dirty="0">
              <a:solidFill>
                <a:srgbClr val="D1D5DB"/>
              </a:solidFill>
              <a:latin typeface="Inter"/>
              <a:ea typeface="Inter"/>
              <a:sym typeface="Inter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Context:</a:t>
            </a:r>
            <a:r>
              <a:rPr lang="en-US" sz="1800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Relevant regulatory document chunks.</a:t>
            </a:r>
            <a:endParaRPr lang="en-US" sz="1800" dirty="0">
              <a:solidFill>
                <a:srgbClr val="D1D5DB"/>
              </a:solidFill>
              <a:latin typeface="Inter"/>
              <a:ea typeface="Inter"/>
              <a:sym typeface="Inter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Answer:</a:t>
            </a:r>
            <a:r>
              <a:rPr lang="en-US" sz="1800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Precise Yes/No responses.</a:t>
            </a:r>
            <a:endParaRPr lang="en-US" sz="1800" dirty="0">
              <a:solidFill>
                <a:srgbClr val="D1D5DB"/>
              </a:solidFill>
              <a:latin typeface="Inter"/>
              <a:ea typeface="Inter"/>
              <a:sym typeface="Inter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Citation: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Precise regulatory text from chunk.</a:t>
            </a:r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Explanation:</a:t>
            </a:r>
            <a:r>
              <a:rPr lang="en-US" sz="1800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Grounded reasoning.</a:t>
            </a:r>
            <a:endParaRPr lang="en-US" sz="1800" dirty="0">
              <a:solidFill>
                <a:srgbClr val="D1D5DB"/>
              </a:solidFill>
              <a:latin typeface="Inter"/>
              <a:ea typeface="Inter"/>
              <a:sym typeface="Inter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Source:</a:t>
            </a:r>
            <a:r>
              <a:rPr lang="en-US" sz="1800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Specific authority references.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dirty="0">
              <a:solidFill>
                <a:srgbClr val="D1D5DB"/>
              </a:solidFill>
              <a:latin typeface="Inter"/>
              <a:ea typeface="Inter"/>
              <a:sym typeface="Inter"/>
            </a:endParaRPr>
          </a:p>
          <a:p>
            <a:r>
              <a:rPr lang="en-US" sz="20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Generation Pipeline:</a:t>
            </a:r>
          </a:p>
          <a:p>
            <a:endParaRPr lang="en-US" sz="1800" dirty="0">
              <a:solidFill>
                <a:srgbClr val="FFC000"/>
              </a:solidFill>
            </a:endParaRPr>
          </a:p>
          <a:p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We applied specific requirement prompts to </a:t>
            </a: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GPT-4o-mini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as a teacher model, followed by manual data validation for reliability.</a:t>
            </a:r>
            <a:endParaRPr lang="en-US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23;p15" descr="image.png">
            <a:extLst>
              <a:ext uri="{FF2B5EF4-FFF2-40B4-BE49-F238E27FC236}">
                <a16:creationId xmlns:a16="http://schemas.microsoft.com/office/drawing/2014/main" id="{F94D318C-AE32-1C85-FC51-CB0492DE371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תמונה 2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F9DA6CC-EB1A-07A4-B2F5-D28DF1CAA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4708" y="453932"/>
            <a:ext cx="7742583" cy="4075853"/>
          </a:xfrm>
          <a:prstGeom prst="rect">
            <a:avLst/>
          </a:prstGeom>
        </p:spPr>
      </p:pic>
      <p:pic>
        <p:nvPicPr>
          <p:cNvPr id="6" name="תמונה 5" descr="תמונה שמכילה צילום מסך, טקסט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192650B-F9E5-AAB3-4D1E-047BB4AD794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6019"/>
          <a:stretch>
            <a:fillRect/>
          </a:stretch>
        </p:blipFill>
        <p:spPr>
          <a:xfrm>
            <a:off x="1046508" y="4837656"/>
            <a:ext cx="10098984" cy="134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088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EEC6ACC2-C264-8E82-EF8A-30803D218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>
            <a:extLst>
              <a:ext uri="{FF2B5EF4-FFF2-40B4-BE49-F238E27FC236}">
                <a16:creationId xmlns:a16="http://schemas.microsoft.com/office/drawing/2014/main" id="{FE067702-7F1F-C670-2674-F78A5BAE485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>
            <a:extLst>
              <a:ext uri="{FF2B5EF4-FFF2-40B4-BE49-F238E27FC236}">
                <a16:creationId xmlns:a16="http://schemas.microsoft.com/office/drawing/2014/main" id="{BE7408F6-091A-5B51-B1CA-9AB9581602C5}"/>
              </a:ext>
            </a:extLst>
          </p:cNvPr>
          <p:cNvSpPr txBox="1"/>
          <p:nvPr/>
        </p:nvSpPr>
        <p:spPr>
          <a:xfrm>
            <a:off x="709612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300" b="1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DATA</a:t>
            </a:r>
            <a:r>
              <a:rPr lang="en-US" sz="3300" b="1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3300" b="1" dirty="0">
                <a:solidFill>
                  <a:srgbClr val="FFC000"/>
                </a:solidFill>
                <a:latin typeface="Inter" panose="020B0604020202020204" charset="0"/>
                <a:ea typeface="Inter" panose="020B0604020202020204" charset="0"/>
              </a:rPr>
              <a:t>VALIDATION PIPELINE</a:t>
            </a:r>
            <a:endParaRPr sz="3300" b="1" dirty="0">
              <a:solidFill>
                <a:srgbClr val="FFC000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27" name="Google Shape;127;p15">
            <a:extLst>
              <a:ext uri="{FF2B5EF4-FFF2-40B4-BE49-F238E27FC236}">
                <a16:creationId xmlns:a16="http://schemas.microsoft.com/office/drawing/2014/main" id="{9C580FE9-B6D0-9F0D-63F9-0B0756298063}"/>
              </a:ext>
            </a:extLst>
          </p:cNvPr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>
            <a:extLst>
              <a:ext uri="{FF2B5EF4-FFF2-40B4-BE49-F238E27FC236}">
                <a16:creationId xmlns:a16="http://schemas.microsoft.com/office/drawing/2014/main" id="{FF255122-A4CA-DA61-2E24-5A33C028D7F2}"/>
              </a:ext>
            </a:extLst>
          </p:cNvPr>
          <p:cNvSpPr txBox="1"/>
          <p:nvPr/>
        </p:nvSpPr>
        <p:spPr>
          <a:xfrm>
            <a:off x="709612" y="1650831"/>
            <a:ext cx="7543800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" panose="020B0604020202020204" charset="0"/>
                <a:ea typeface="Inter" panose="020B0604020202020204" charset="0"/>
              </a:rPr>
              <a:t>Citation Integrity</a:t>
            </a:r>
            <a:r>
              <a:rPr lang="en-US" sz="1800" b="1" dirty="0">
                <a:solidFill>
                  <a:srgbClr val="FFC000"/>
                </a:solidFill>
                <a:latin typeface="Inter" panose="020B0604020202020204" charset="0"/>
                <a:ea typeface="Inter" panose="020B0604020202020204" charset="0"/>
                <a:cs typeface="Inter SemiBold"/>
                <a:sym typeface="Inter SemiBold"/>
              </a:rPr>
              <a:t>:</a:t>
            </a:r>
            <a:r>
              <a:rPr lang="en-US" sz="1800" dirty="0">
                <a:solidFill>
                  <a:srgbClr val="FFC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Ensures the quoted text exists word-for-word in the source chunk.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dirty="0">
              <a:solidFill>
                <a:srgbClr val="BCC0C7"/>
              </a:solidFill>
              <a:latin typeface="Inter" panose="020B0604020202020204" charset="0"/>
              <a:ea typeface="Inter" panose="020B0604020202020204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" panose="020B0604020202020204" charset="0"/>
                <a:ea typeface="Inter" panose="020B0604020202020204" charset="0"/>
              </a:rPr>
              <a:t>Semantic Relevance:</a:t>
            </a:r>
            <a:r>
              <a:rPr lang="en-US" sz="1800" b="1" dirty="0">
                <a:solidFill>
                  <a:srgbClr val="BCC0C7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Vector-based </a:t>
            </a:r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Cosine Similarity check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 (&gt;0.35) between Question and Citation.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dirty="0">
              <a:solidFill>
                <a:srgbClr val="BCC0C7"/>
              </a:solidFill>
              <a:latin typeface="Inter" panose="020B0604020202020204" charset="0"/>
              <a:ea typeface="Inter" panose="020B0604020202020204" charset="0"/>
              <a:sym typeface="Inter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" panose="020B0604020202020204" charset="0"/>
                <a:ea typeface="Inter" panose="020B0604020202020204" charset="0"/>
              </a:rPr>
              <a:t>Logical Grounding:</a:t>
            </a:r>
            <a:r>
              <a:rPr lang="en-US" sz="1800" dirty="0">
                <a:latin typeface="Inter" panose="020B0604020202020204" charset="0"/>
                <a:ea typeface="Inter" panose="020B0604020202020204" charset="0"/>
              </a:rPr>
              <a:t>: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Vector-based </a:t>
            </a:r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Cosine Similarity check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 (&gt;0.45) between Explanation and Citation.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dirty="0">
              <a:solidFill>
                <a:srgbClr val="BCC0C7"/>
              </a:solidFill>
              <a:latin typeface="Inter" panose="020B0604020202020204" charset="0"/>
              <a:ea typeface="Inter" panose="020B0604020202020204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 SemiBold" panose="020B0604020202020204" charset="0"/>
                <a:ea typeface="Inter SemiBold" panose="020B0604020202020204" charset="0"/>
              </a:rPr>
              <a:t>After validation: 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391 examples.</a:t>
            </a:r>
            <a:endParaRPr sz="1800" dirty="0">
              <a:solidFill>
                <a:schemeClr val="bg1">
                  <a:lumMod val="85000"/>
                </a:schemeClr>
              </a:solidFill>
              <a:latin typeface="Inter SemiBold" panose="020B0604020202020204" charset="0"/>
              <a:ea typeface="Inter SemiBold" panose="020B0604020202020204" charset="0"/>
            </a:endParaRPr>
          </a:p>
        </p:txBody>
      </p:sp>
      <p:pic>
        <p:nvPicPr>
          <p:cNvPr id="3" name="Picture 2" descr="A green stamp with a check mark&#10;&#10;AI-generated content may be incorrect.">
            <a:extLst>
              <a:ext uri="{FF2B5EF4-FFF2-40B4-BE49-F238E27FC236}">
                <a16:creationId xmlns:a16="http://schemas.microsoft.com/office/drawing/2014/main" id="{C97BE671-CC9B-690C-97AF-E31AB13F2D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98676">
            <a:off x="8897405" y="3830298"/>
            <a:ext cx="2143125" cy="214312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647823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23;p15" descr="image.png">
            <a:extLst>
              <a:ext uri="{FF2B5EF4-FFF2-40B4-BE49-F238E27FC236}">
                <a16:creationId xmlns:a16="http://schemas.microsoft.com/office/drawing/2014/main" id="{F94D318C-AE32-1C85-FC51-CB0492DE371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6;p15">
            <a:extLst>
              <a:ext uri="{FF2B5EF4-FFF2-40B4-BE49-F238E27FC236}">
                <a16:creationId xmlns:a16="http://schemas.microsoft.com/office/drawing/2014/main" id="{FE3689E0-22E0-AE66-7736-083C1CA1B6EF}"/>
              </a:ext>
            </a:extLst>
          </p:cNvPr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EXPLORATORY</a:t>
            </a:r>
            <a:r>
              <a:rPr lang="en-US" sz="3300" b="1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 DATA ANALYSIS 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3" name="Google Shape;127;p15">
            <a:extLst>
              <a:ext uri="{FF2B5EF4-FFF2-40B4-BE49-F238E27FC236}">
                <a16:creationId xmlns:a16="http://schemas.microsoft.com/office/drawing/2014/main" id="{05507A56-19A5-C580-9C8D-2DB304671A21}"/>
              </a:ext>
            </a:extLst>
          </p:cNvPr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Picture 13" descr="A graph with blue dots and a red line&#10;&#10;AI-generated content may be incorrect.">
            <a:extLst>
              <a:ext uri="{FF2B5EF4-FFF2-40B4-BE49-F238E27FC236}">
                <a16:creationId xmlns:a16="http://schemas.microsoft.com/office/drawing/2014/main" id="{C92F8FC0-C180-292E-1E4E-745EB14D9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886222"/>
            <a:ext cx="4887390" cy="3665543"/>
          </a:xfrm>
          <a:prstGeom prst="rect">
            <a:avLst/>
          </a:prstGeom>
        </p:spPr>
      </p:pic>
      <p:pic>
        <p:nvPicPr>
          <p:cNvPr id="16" name="Picture 15" descr="A graph with blue bars&#10;&#10;AI-generated content may be incorrect.">
            <a:extLst>
              <a:ext uri="{FF2B5EF4-FFF2-40B4-BE49-F238E27FC236}">
                <a16:creationId xmlns:a16="http://schemas.microsoft.com/office/drawing/2014/main" id="{CEB3B2C7-BBD4-A7AB-2488-C2730EA2DF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8310" y="1393071"/>
            <a:ext cx="3876539" cy="2325923"/>
          </a:xfrm>
          <a:prstGeom prst="rect">
            <a:avLst/>
          </a:prstGeom>
        </p:spPr>
      </p:pic>
      <p:pic>
        <p:nvPicPr>
          <p:cNvPr id="18" name="Picture 17" descr="A blue squares with black text&#10;&#10;AI-generated content may be incorrect.">
            <a:extLst>
              <a:ext uri="{FF2B5EF4-FFF2-40B4-BE49-F238E27FC236}">
                <a16:creationId xmlns:a16="http://schemas.microsoft.com/office/drawing/2014/main" id="{E36E93A5-588E-05C2-6808-BDA1267046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8310" y="3890803"/>
            <a:ext cx="3876539" cy="232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572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23;p15" descr="image.png">
            <a:extLst>
              <a:ext uri="{FF2B5EF4-FFF2-40B4-BE49-F238E27FC236}">
                <a16:creationId xmlns:a16="http://schemas.microsoft.com/office/drawing/2014/main" id="{11922A95-1B3F-2D90-BF95-300813A8BC9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709612" y="1462415"/>
            <a:ext cx="11343285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 SemiBold" panose="020B0604020202020204" charset="0"/>
                <a:ea typeface="Inter SemiBold" panose="020B0604020202020204" charset="0"/>
                <a:cs typeface="Inter SemiBold"/>
                <a:sym typeface="Inter SemiBold"/>
              </a:rPr>
              <a:t>Model selection:</a:t>
            </a:r>
            <a:r>
              <a:rPr lang="en-US" sz="1800" dirty="0">
                <a:solidFill>
                  <a:schemeClr val="bg1"/>
                </a:solidFill>
                <a:latin typeface="Inter SemiBold" panose="020B0604020202020204" charset="0"/>
                <a:ea typeface="Inter SemiBold" panose="020B0604020202020204" charset="0"/>
              </a:rPr>
              <a:t> 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Llama 3.1 8B due to its exceptional instruction-following capabilities.</a:t>
            </a:r>
          </a:p>
          <a:p>
            <a:pPr>
              <a:buClr>
                <a:srgbClr val="FFC000"/>
              </a:buClr>
            </a:pPr>
            <a:endParaRPr lang="en-US" sz="1800" dirty="0">
              <a:solidFill>
                <a:schemeClr val="bg1"/>
              </a:solidFill>
              <a:latin typeface="Inter SemiBold" panose="020B0604020202020204" charset="0"/>
              <a:ea typeface="Inter SemiBold" panose="020B0604020202020204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 SemiBold" panose="020B0604020202020204" charset="0"/>
                <a:ea typeface="Inter SemiBold" panose="020B0604020202020204" charset="0"/>
              </a:rPr>
              <a:t>Dataset preparation</a:t>
            </a:r>
            <a:r>
              <a:rPr lang="en-US" sz="1800" dirty="0">
                <a:solidFill>
                  <a:schemeClr val="bg1"/>
                </a:solidFill>
                <a:latin typeface="Inter SemiBold" panose="020B0604020202020204" charset="0"/>
                <a:ea typeface="Inter SemiBold" panose="020B0604020202020204" charset="0"/>
              </a:rPr>
              <a:t>: 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we convert the dataset to 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Alpaca format</a:t>
            </a:r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 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and split them 341 train, and 50 test.</a:t>
            </a:r>
          </a:p>
          <a:p>
            <a:pPr>
              <a:buClr>
                <a:srgbClr val="FFC000"/>
              </a:buClr>
            </a:pPr>
            <a:endParaRPr lang="en-US" sz="1800" dirty="0">
              <a:solidFill>
                <a:schemeClr val="bg1">
                  <a:lumMod val="85000"/>
                </a:schemeClr>
              </a:solidFill>
              <a:latin typeface="Inter SemiBold" panose="020B0604020202020204" charset="0"/>
              <a:ea typeface="Inter SemiBold" panose="020B0604020202020204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 SemiBold" panose="020B0604020202020204" charset="0"/>
                <a:ea typeface="Inter SemiBold" panose="020B0604020202020204" charset="0"/>
              </a:rPr>
              <a:t>Training Technique</a:t>
            </a:r>
            <a:r>
              <a:rPr lang="en-US" sz="1800" b="1" dirty="0">
                <a:solidFill>
                  <a:srgbClr val="FFC000"/>
                </a:solidFill>
                <a:latin typeface="Inter SemiBold" panose="020B0604020202020204" charset="0"/>
                <a:ea typeface="Inter SemiBold" panose="020B0604020202020204" charset="0"/>
                <a:cs typeface="Inter SemiBold"/>
                <a:sym typeface="Inter SemiBold"/>
              </a:rPr>
              <a:t>:</a:t>
            </a:r>
            <a:r>
              <a:rPr lang="en-US" sz="1800" dirty="0">
                <a:solidFill>
                  <a:srgbClr val="FFC000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We finetuned the model using 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LoRA</a:t>
            </a:r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 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to efficiently specialize the model on legal syntax while preventing "catastrophic forgetting" of its base knowledge.</a:t>
            </a:r>
          </a:p>
          <a:p>
            <a:pPr>
              <a:buClr>
                <a:srgbClr val="FFC000"/>
              </a:buClr>
            </a:pPr>
            <a:endParaRPr lang="en-US" sz="1800" dirty="0">
              <a:solidFill>
                <a:srgbClr val="FFC000"/>
              </a:solidFill>
              <a:latin typeface="Inter SemiBold" panose="020B0604020202020204" charset="0"/>
              <a:ea typeface="Inter SemiBold" panose="020B0604020202020204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 SemiBold" panose="020B0604020202020204" charset="0"/>
                <a:ea typeface="Inter SemiBold" panose="020B0604020202020204" charset="0"/>
              </a:rPr>
              <a:t>Inference Results</a:t>
            </a:r>
            <a:r>
              <a:rPr lang="en-US" sz="1800" b="1" dirty="0">
                <a:solidFill>
                  <a:srgbClr val="FFC000"/>
                </a:solidFill>
                <a:latin typeface="Inter SemiBold" panose="020B0604020202020204" charset="0"/>
                <a:ea typeface="Inter SemiBold" panose="020B0604020202020204" charset="0"/>
                <a:cs typeface="Inter SemiBold"/>
                <a:sym typeface="Inter SemiBold"/>
              </a:rPr>
              <a:t>:</a:t>
            </a:r>
            <a:r>
              <a:rPr lang="en-US" sz="1800" dirty="0">
                <a:solidFill>
                  <a:srgbClr val="FFC000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achieved 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98%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 success in 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Answer Correctness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, and 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82%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 in 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Exact Verbatim Citation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150" name="Google Shape;150;p16"/>
          <p:cNvSpPr txBox="1"/>
          <p:nvPr/>
        </p:nvSpPr>
        <p:spPr>
          <a:xfrm>
            <a:off x="709612" y="560338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300" b="1" i="0" u="none" strike="noStrike" cap="none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BASELINE </a:t>
            </a:r>
            <a:r>
              <a:rPr lang="en-US" sz="3300" b="1" dirty="0">
                <a:solidFill>
                  <a:srgbClr val="FFC000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SOLUTION &amp; RESULT</a:t>
            </a:r>
            <a:endParaRPr sz="3300" b="1" dirty="0">
              <a:solidFill>
                <a:srgbClr val="FFC000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 descr="A llama with its mouth open&#10;&#10;AI-generated content may be incorrect.">
            <a:extLst>
              <a:ext uri="{FF2B5EF4-FFF2-40B4-BE49-F238E27FC236}">
                <a16:creationId xmlns:a16="http://schemas.microsoft.com/office/drawing/2014/main" id="{15E68CB6-946F-1979-4900-0F643381EB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016" y="4232404"/>
            <a:ext cx="2861967" cy="19045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4727" y="1304925"/>
            <a:ext cx="4798299" cy="2365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0565" y="3851999"/>
            <a:ext cx="4798299" cy="2365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1304925"/>
            <a:ext cx="4798299" cy="2365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09868" y="3864913"/>
            <a:ext cx="4804568" cy="236584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1370001" y="2023199"/>
            <a:ext cx="4091851" cy="169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Data Engineering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rgbClr val="F9FAF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r>
              <a:rPr lang="en-US" sz="1800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Scale training to 2,000+ examples. Introduce Negative Sampling to teach "N/A" handling for missing info.</a:t>
            </a:r>
            <a:endParaRPr lang="en-US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169" name="Google Shape;169;p17"/>
          <p:cNvSpPr txBox="1"/>
          <p:nvPr/>
        </p:nvSpPr>
        <p:spPr>
          <a:xfrm>
            <a:off x="1370002" y="4686300"/>
            <a:ext cx="4091850" cy="169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RAG Implementation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rgbClr val="F9FAF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r>
              <a:rPr lang="en-US" sz="1800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Transition to vector database architecture for automatic fetching of regulatory sections.</a:t>
            </a:r>
            <a:endParaRPr lang="en-US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/>
          </a:p>
        </p:txBody>
      </p:sp>
      <p:sp>
        <p:nvSpPr>
          <p:cNvPr id="170" name="Google Shape;170;p17"/>
          <p:cNvSpPr txBox="1"/>
          <p:nvPr/>
        </p:nvSpPr>
        <p:spPr>
          <a:xfrm>
            <a:off x="6333869" y="2037902"/>
            <a:ext cx="4322559" cy="169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Advanced Evaluation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rgbClr val="F9FAF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r>
              <a:rPr lang="en-US" sz="1800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End-to-End metrics: Retrieval Hit Rate and LLM-Judge for qualitative explanation checks.</a:t>
            </a:r>
            <a:endParaRPr lang="en-US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171" name="Google Shape;171;p17"/>
          <p:cNvSpPr txBox="1"/>
          <p:nvPr/>
        </p:nvSpPr>
        <p:spPr>
          <a:xfrm>
            <a:off x="6350873" y="4686300"/>
            <a:ext cx="4146506" cy="169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VeriCite FrameWork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rgbClr val="F9FAF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r>
              <a:rPr lang="en-US" sz="1800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Implement strict post-processing to programmatically cross-reference citations against source text.</a:t>
            </a:r>
            <a:endParaRPr lang="en-US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pic>
        <p:nvPicPr>
          <p:cNvPr id="172" name="Google Shape;172;p17" descr="image.png"/>
          <p:cNvPicPr preferRelativeResize="0"/>
          <p:nvPr/>
        </p:nvPicPr>
        <p:blipFill rotWithShape="1">
          <a:blip r:embed="rId5">
            <a:alphaModFix/>
            <a:duotone>
              <a:prstClr val="black"/>
              <a:srgbClr val="FFC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1370002" y="1451699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 descr="image.png"/>
          <p:cNvPicPr preferRelativeResize="0"/>
          <p:nvPr/>
        </p:nvPicPr>
        <p:blipFill rotWithShape="1">
          <a:blip r:embed="rId6">
            <a:alphaModFix/>
            <a:duotone>
              <a:prstClr val="black"/>
              <a:srgbClr val="FFC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1370002" y="411480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 descr="image.png"/>
          <p:cNvPicPr preferRelativeResize="0"/>
          <p:nvPr/>
        </p:nvPicPr>
        <p:blipFill rotWithShape="1">
          <a:blip r:embed="rId7">
            <a:alphaModFix/>
            <a:duotone>
              <a:prstClr val="black"/>
              <a:srgbClr val="FFC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6350874" y="1499069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TECHNICAL </a:t>
            </a:r>
            <a:r>
              <a:rPr lang="en-US" sz="3300" b="1" i="0" u="none" strike="noStrike" cap="none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FUTURE ROADMAP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raphic 11" descr="Gears outline">
            <a:extLst>
              <a:ext uri="{FF2B5EF4-FFF2-40B4-BE49-F238E27FC236}">
                <a16:creationId xmlns:a16="http://schemas.microsoft.com/office/drawing/2014/main" id="{32A777C8-B80F-3E36-0372-2B2F9F58DB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33869" y="4040448"/>
            <a:ext cx="451708" cy="4517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1043</TotalTime>
  <Words>502</Words>
  <Application>Microsoft Office PowerPoint</Application>
  <PresentationFormat>Widescreen</PresentationFormat>
  <Paragraphs>80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Inter SemiBold</vt:lpstr>
      <vt:lpstr>Wingdings</vt:lpstr>
      <vt:lpstr>Urbanist</vt:lpstr>
      <vt:lpstr>Inter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Yossef Okropiridze</cp:lastModifiedBy>
  <cp:revision>28</cp:revision>
  <dcterms:modified xsi:type="dcterms:W3CDTF">2026-01-18T10:14:49Z</dcterms:modified>
</cp:coreProperties>
</file>